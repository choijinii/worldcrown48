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C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097280"/>
            <a:ext cx="5029200" cy="5029200"/>
          </a:xfrm>
          <a:prstGeom prst="ellipse">
            <a:avLst/>
          </a:prstGeom>
          <a:solidFill>
            <a:srgbClr val="1E1E7A"/>
          </a:solidFill>
          <a:ln w="12700">
            <a:solidFill>
              <a:srgbClr val="2A2D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457200"/>
            <a:ext cx="3657600" cy="3657600"/>
          </a:xfrm>
          <a:prstGeom prst="ellipse">
            <a:avLst/>
          </a:prstGeom>
          <a:solidFill>
            <a:srgbClr val="141466"/>
          </a:solidFill>
          <a:ln w="12700">
            <a:solidFill>
              <a:srgbClr val="1E1E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👑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1554480" y="41148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spc="100" kern="0" dirty="0">
                <a:solidFill>
                  <a:srgbClr val="FFD700"/>
                </a:solidFill>
              </a:rPr>
              <a:t>WorldCrown48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554480" y="107899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B8E0"/>
                </a:solidFill>
              </a:rPr>
              <a:t>2026 FIFA 월드컵 글로벌 팬 투표 &amp; AI 뉴스 플랫폼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572768"/>
            <a:ext cx="5669280" cy="36576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73736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사업계획서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57200" y="2606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99"/>
                </a:solidFill>
              </a:rPr>
              <a:t>Version 4.0  ·  2026. 05. 23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090672"/>
            <a:ext cx="7772400" cy="347472"/>
          </a:xfrm>
          <a:prstGeom prst="rect">
            <a:avLst/>
          </a:prstGeom>
          <a:solidFill>
            <a:srgbClr val="1E1E7A"/>
          </a:solidFill>
          <a:ln w="6350">
            <a:solidFill>
              <a:srgbClr val="2A2D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31363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D700"/>
                </a:solidFill>
              </a:rPr>
              <a:t>서비스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468880" y="313639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E0"/>
                </a:solidFill>
              </a:rPr>
              <a:t>worldcrown48.com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3502152"/>
            <a:ext cx="7772400" cy="347472"/>
          </a:xfrm>
          <a:prstGeom prst="rect">
            <a:avLst/>
          </a:prstGeom>
          <a:solidFill>
            <a:srgbClr val="12154A"/>
          </a:solidFill>
          <a:ln w="6350">
            <a:solidFill>
              <a:srgbClr val="2A2D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5478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D700"/>
                </a:solidFill>
              </a:rPr>
              <a:t>개발 방식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468880" y="35478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E0"/>
                </a:solidFill>
              </a:rPr>
              <a:t>Vibe Coding × Claude AI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3913632"/>
            <a:ext cx="7772400" cy="347472"/>
          </a:xfrm>
          <a:prstGeom prst="rect">
            <a:avLst/>
          </a:prstGeom>
          <a:solidFill>
            <a:srgbClr val="1E1E7A"/>
          </a:solidFill>
          <a:ln w="6350">
            <a:solidFill>
              <a:srgbClr val="2A2D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9593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D700"/>
                </a:solidFill>
              </a:rPr>
              <a:t>런칭 목표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468880" y="39593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E0"/>
                </a:solidFill>
              </a:rPr>
              <a:t>2026년 6월 11일 (월드컵 개막) 전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4325112"/>
            <a:ext cx="7772400" cy="347472"/>
          </a:xfrm>
          <a:prstGeom prst="rect">
            <a:avLst/>
          </a:prstGeom>
          <a:solidFill>
            <a:srgbClr val="12154A"/>
          </a:solidFill>
          <a:ln w="6350">
            <a:solidFill>
              <a:srgbClr val="2A2D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43708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D700"/>
                </a:solidFill>
              </a:rPr>
              <a:t>v4.0 신규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468880" y="43708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E0"/>
                </a:solidFill>
              </a:rPr>
              <a:t>Fan Intelligence + AI 뉴스 전략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0" y="484632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A99"/>
                </a:solidFill>
              </a:rPr>
              <a:t>🔒  CONFIDENTIAL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0" y="4956048"/>
            <a:ext cx="9144000" cy="73152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0C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41466"/>
          </a:solidFill>
          <a:ln w="12700">
            <a:solidFill>
              <a:srgbClr val="1414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640080" cy="566928"/>
          </a:xfrm>
          <a:prstGeom prst="rect">
            <a:avLst/>
          </a:prstGeom>
          <a:solidFill>
            <a:srgbClr val="1E205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700"/>
                </a:solidFill>
              </a:rPr>
              <a:t>00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51560" y="155448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목  차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51560" y="65836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</a:rPr>
              <a:t>Table of Contents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1115568"/>
            <a:ext cx="4251960" cy="329184"/>
          </a:xfrm>
          <a:prstGeom prst="rect">
            <a:avLst/>
          </a:prstGeom>
          <a:solidFill>
            <a:srgbClr val="1E1E7A"/>
          </a:solidFill>
          <a:ln w="6350">
            <a:solidFill>
              <a:srgbClr val="2A2D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115568"/>
            <a:ext cx="54864" cy="32918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117043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700"/>
                </a:solidFill>
              </a:rPr>
              <a:t>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86968" y="1170432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5F7"/>
                </a:solidFill>
              </a:rPr>
              <a:t>서비스 개요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" y="1517904"/>
            <a:ext cx="4251960" cy="329184"/>
          </a:xfrm>
          <a:prstGeom prst="rect">
            <a:avLst/>
          </a:prstGeom>
          <a:solidFill>
            <a:srgbClr val="1E1E7A"/>
          </a:solidFill>
          <a:ln w="6350">
            <a:solidFill>
              <a:srgbClr val="2A2D6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1517904"/>
            <a:ext cx="54864" cy="32918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9768" y="1572768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700"/>
                </a:solidFill>
              </a:rPr>
              <a:t>02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86968" y="1572768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5F7"/>
                </a:solidFill>
              </a:rPr>
              <a:t>시장 분석 &amp; 기회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" y="1920240"/>
            <a:ext cx="4251960" cy="329184"/>
          </a:xfrm>
          <a:prstGeom prst="rect">
            <a:avLst/>
          </a:prstGeom>
          <a:solidFill>
            <a:srgbClr val="1E1E7A"/>
          </a:solidFill>
          <a:ln w="6350">
            <a:solidFill>
              <a:srgbClr val="2A2D6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1920240"/>
            <a:ext cx="54864" cy="32918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9768" y="1975104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700"/>
                </a:solidFill>
              </a:rPr>
              <a:t>03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86968" y="197510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5F7"/>
                </a:solidFill>
              </a:rPr>
              <a:t>7개 도메인 구조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0040" y="2322576"/>
            <a:ext cx="4251960" cy="329184"/>
          </a:xfrm>
          <a:prstGeom prst="rect">
            <a:avLst/>
          </a:prstGeom>
          <a:solidFill>
            <a:srgbClr val="1E1E7A"/>
          </a:solidFill>
          <a:ln w="6350">
            <a:solidFill>
              <a:srgbClr val="2A2D6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2322576"/>
            <a:ext cx="54864" cy="32918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9768" y="2377440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700"/>
                </a:solidFill>
              </a:rPr>
              <a:t>04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86968" y="237744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5F7"/>
                </a:solidFill>
              </a:rPr>
              <a:t>핵심 차별점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20040" y="2724912"/>
            <a:ext cx="4251960" cy="329184"/>
          </a:xfrm>
          <a:prstGeom prst="rect">
            <a:avLst/>
          </a:prstGeom>
          <a:solidFill>
            <a:srgbClr val="1E1E7A"/>
          </a:solidFill>
          <a:ln w="6350">
            <a:solidFill>
              <a:srgbClr val="2A2D6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" y="2724912"/>
            <a:ext cx="54864" cy="329184"/>
          </a:xfrm>
          <a:prstGeom prst="rect">
            <a:avLst/>
          </a:prstGeom>
          <a:solidFill>
            <a:srgbClr val="39CFB8"/>
          </a:solidFill>
          <a:ln w="12700">
            <a:solidFill>
              <a:srgbClr val="39CFB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9768" y="2779776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CFB8"/>
                </a:solidFill>
              </a:rPr>
              <a:t>05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86968" y="2779776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5F7"/>
                </a:solidFill>
              </a:rPr>
              <a:t>Fan Intelligence — AI 뉴스 전략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069080" y="2807208"/>
            <a:ext cx="384048" cy="164592"/>
          </a:xfrm>
          <a:prstGeom prst="rect">
            <a:avLst/>
          </a:prstGeom>
          <a:solidFill>
            <a:srgbClr val="39CFB8"/>
          </a:solidFill>
          <a:ln w="12700">
            <a:solidFill>
              <a:srgbClr val="39CFB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069080" y="2807208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0C3B"/>
                </a:solidFill>
              </a:rPr>
              <a:t>신규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4754880" y="1115568"/>
            <a:ext cx="4251960" cy="329184"/>
          </a:xfrm>
          <a:prstGeom prst="rect">
            <a:avLst/>
          </a:prstGeom>
          <a:solidFill>
            <a:srgbClr val="1E1E7A"/>
          </a:solidFill>
          <a:ln w="6350">
            <a:solidFill>
              <a:srgbClr val="2A2D6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54880" y="1115568"/>
            <a:ext cx="54864" cy="329184"/>
          </a:xfrm>
          <a:prstGeom prst="rect">
            <a:avLst/>
          </a:prstGeom>
          <a:solidFill>
            <a:srgbClr val="39CFB8"/>
          </a:solidFill>
          <a:ln w="12700">
            <a:solidFill>
              <a:srgbClr val="39CFB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64608" y="117043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CFB8"/>
                </a:solidFill>
              </a:rPr>
              <a:t>06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321808" y="1170432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5F7"/>
                </a:solidFill>
              </a:rPr>
              <a:t>데이터 기반 뉴스 뷰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503920" y="1197864"/>
            <a:ext cx="384048" cy="164592"/>
          </a:xfrm>
          <a:prstGeom prst="rect">
            <a:avLst/>
          </a:prstGeom>
          <a:solidFill>
            <a:srgbClr val="39CFB8"/>
          </a:solidFill>
          <a:ln w="12700">
            <a:solidFill>
              <a:srgbClr val="39CFB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503920" y="119786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0C3B"/>
                </a:solidFill>
              </a:rPr>
              <a:t>신규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4754880" y="1517904"/>
            <a:ext cx="4251960" cy="329184"/>
          </a:xfrm>
          <a:prstGeom prst="rect">
            <a:avLst/>
          </a:prstGeom>
          <a:solidFill>
            <a:srgbClr val="1E1E7A"/>
          </a:solidFill>
          <a:ln w="6350">
            <a:solidFill>
              <a:srgbClr val="2A2D6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54880" y="1517904"/>
            <a:ext cx="54864" cy="32918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64608" y="1572768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700"/>
                </a:solidFill>
              </a:rPr>
              <a:t>07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321808" y="1572768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5F7"/>
                </a:solidFill>
              </a:rPr>
              <a:t>MVP 로드맵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754880" y="1920240"/>
            <a:ext cx="4251960" cy="329184"/>
          </a:xfrm>
          <a:prstGeom prst="rect">
            <a:avLst/>
          </a:prstGeom>
          <a:solidFill>
            <a:srgbClr val="1E1E7A"/>
          </a:solidFill>
          <a:ln w="6350">
            <a:solidFill>
              <a:srgbClr val="2A2D6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754880" y="1920240"/>
            <a:ext cx="54864" cy="32918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64608" y="1975104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700"/>
                </a:solidFill>
              </a:rPr>
              <a:t>08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321808" y="197510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5F7"/>
                </a:solidFill>
              </a:rPr>
              <a:t>기술 스택 &amp; 수익 모델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754880" y="2322576"/>
            <a:ext cx="4251960" cy="329184"/>
          </a:xfrm>
          <a:prstGeom prst="rect">
            <a:avLst/>
          </a:prstGeom>
          <a:solidFill>
            <a:srgbClr val="1E1E7A"/>
          </a:solidFill>
          <a:ln w="6350">
            <a:solidFill>
              <a:srgbClr val="2A2D6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754880" y="2322576"/>
            <a:ext cx="54864" cy="32918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64608" y="2377440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700"/>
                </a:solidFill>
              </a:rPr>
              <a:t>09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321808" y="237744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5F7"/>
                </a:solidFill>
              </a:rPr>
              <a:t>KPI &amp; 리스크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4754880" y="2724912"/>
            <a:ext cx="4251960" cy="329184"/>
          </a:xfrm>
          <a:prstGeom prst="rect">
            <a:avLst/>
          </a:prstGeom>
          <a:solidFill>
            <a:srgbClr val="1E1E7A"/>
          </a:solidFill>
          <a:ln w="6350">
            <a:solidFill>
              <a:srgbClr val="2A2D6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754880" y="2724912"/>
            <a:ext cx="54864" cy="329184"/>
          </a:xfrm>
          <a:prstGeom prst="rect">
            <a:avLst/>
          </a:prstGeom>
          <a:solidFill>
            <a:srgbClr val="39CFB8"/>
          </a:solidFill>
          <a:ln w="12700">
            <a:solidFill>
              <a:srgbClr val="39CFB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64608" y="2779776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CFB8"/>
                </a:solidFill>
              </a:rPr>
              <a:t>10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321808" y="2779776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5F7"/>
                </a:solidFill>
              </a:rPr>
              <a:t>★ 상세 작업 계획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8503920" y="2807208"/>
            <a:ext cx="384048" cy="164592"/>
          </a:xfrm>
          <a:prstGeom prst="rect">
            <a:avLst/>
          </a:prstGeom>
          <a:solidFill>
            <a:srgbClr val="39CFB8"/>
          </a:solidFill>
          <a:ln w="12700">
            <a:solidFill>
              <a:srgbClr val="39CFB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503920" y="2807208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0C3B"/>
                </a:solidFill>
              </a:rPr>
              <a:t>신규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0" y="4956048"/>
            <a:ext cx="9144000" cy="73152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0C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41466"/>
          </a:solidFill>
          <a:ln w="12700">
            <a:solidFill>
              <a:srgbClr val="1414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640080" cy="566928"/>
          </a:xfrm>
          <a:prstGeom prst="rect">
            <a:avLst/>
          </a:prstGeom>
          <a:solidFill>
            <a:srgbClr val="1E205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700"/>
                </a:solidFill>
              </a:rPr>
              <a:t>01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51560" y="155448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서비스 개요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51560" y="65836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</a:rPr>
              <a:t>Executive Summary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1078992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A8B8E0"/>
                </a:solidFill>
              </a:rPr>
              <a:t>WorldCrown48은 2026 FIFA 북중미 월드컵을 겨냥한 글로벌 팬 투표 플랫폼입니다.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A8B8E0"/>
                </a:solidFill>
              </a:rPr>
              <a:t>팬들이 48개국 국가대표팀을 1:1 토너먼트 방식으로 투표하고, AI가 그 결과를 뉴스로 생성합니다.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65760" y="1920240"/>
            <a:ext cx="2606040" cy="1737360"/>
          </a:xfrm>
          <a:prstGeom prst="rect">
            <a:avLst/>
          </a:prstGeom>
          <a:solidFill>
            <a:srgbClr val="1E1E7A"/>
          </a:solidFill>
          <a:ln w="12700">
            <a:solidFill>
              <a:srgbClr val="2A2D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920240"/>
            <a:ext cx="260604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05740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🗳️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051560" y="2066544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700"/>
                </a:solidFill>
              </a:rPr>
              <a:t>팬 투표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02920" y="254203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A8B8E0"/>
                </a:solidFill>
              </a:rPr>
              <a:t>48강 이상형 월드컵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A8B8E0"/>
                </a:solidFill>
              </a:rPr>
              <a:t>방식 직관적 투표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0" y="1920240"/>
            <a:ext cx="2606040" cy="1737360"/>
          </a:xfrm>
          <a:prstGeom prst="rect">
            <a:avLst/>
          </a:prstGeom>
          <a:solidFill>
            <a:srgbClr val="1E1E7A"/>
          </a:solidFill>
          <a:ln w="12700">
            <a:solidFill>
              <a:srgbClr val="2A2D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1920240"/>
            <a:ext cx="260604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205740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🤖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3886200" y="2066544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700"/>
                </a:solidFill>
              </a:rPr>
              <a:t>AI 뉴스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337560" y="254203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A8B8E0"/>
                </a:solidFill>
              </a:rPr>
              <a:t>Fan Intelligence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A8B8E0"/>
                </a:solidFill>
              </a:rPr>
              <a:t>독점 AI 보도 포맷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035040" y="1920240"/>
            <a:ext cx="2606040" cy="1737360"/>
          </a:xfrm>
          <a:prstGeom prst="rect">
            <a:avLst/>
          </a:prstGeom>
          <a:solidFill>
            <a:srgbClr val="1E1E7A"/>
          </a:solidFill>
          <a:ln w="12700">
            <a:solidFill>
              <a:srgbClr val="2A2D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35040" y="1920240"/>
            <a:ext cx="260604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72200" y="205740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👑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720840" y="2066544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700"/>
                </a:solidFill>
              </a:rPr>
              <a:t>Crown Card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172200" y="254203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A8B8E0"/>
                </a:solidFill>
              </a:rPr>
              <a:t>개인화 결과 이미지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A8B8E0"/>
                </a:solidFill>
              </a:rPr>
              <a:t>SNS 바이럴 엔진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65760" y="3749040"/>
            <a:ext cx="2057400" cy="932688"/>
          </a:xfrm>
          <a:prstGeom prst="rect">
            <a:avLst/>
          </a:prstGeom>
          <a:solidFill>
            <a:srgbClr val="1E1E7A"/>
          </a:solidFill>
          <a:ln w="12700">
            <a:solidFill>
              <a:srgbClr val="2A2D6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3749040"/>
            <a:ext cx="64008" cy="932688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" y="384048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9"/>
                </a:solidFill>
              </a:rPr>
              <a:t>2026 월드컵 예상 시청자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75488" y="4041648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D700"/>
                </a:solidFill>
              </a:rPr>
              <a:t>50억+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2578608" y="3749040"/>
            <a:ext cx="2057400" cy="932688"/>
          </a:xfrm>
          <a:prstGeom prst="rect">
            <a:avLst/>
          </a:prstGeom>
          <a:solidFill>
            <a:srgbClr val="1E1E7A"/>
          </a:solidFill>
          <a:ln w="12700">
            <a:solidFill>
              <a:srgbClr val="2A2D6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578608" y="3749040"/>
            <a:ext cx="64008" cy="932688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688336" y="384048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9"/>
                </a:solidFill>
              </a:rPr>
              <a:t>역대 최초 48팀 체제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688336" y="4041648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D700"/>
                </a:solidFill>
              </a:rPr>
              <a:t>48팀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4791456" y="3749040"/>
            <a:ext cx="2057400" cy="932688"/>
          </a:xfrm>
          <a:prstGeom prst="rect">
            <a:avLst/>
          </a:prstGeom>
          <a:solidFill>
            <a:srgbClr val="1E1E7A"/>
          </a:solidFill>
          <a:ln w="12700">
            <a:solidFill>
              <a:srgbClr val="2A2D6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91456" y="3749040"/>
            <a:ext cx="64008" cy="932688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01184" y="384048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9"/>
                </a:solidFill>
              </a:rPr>
              <a:t>ko · en · es (스페인어)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901184" y="4041648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D700"/>
                </a:solidFill>
              </a:rPr>
              <a:t>3개 언어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7004304" y="3749040"/>
            <a:ext cx="2057400" cy="932688"/>
          </a:xfrm>
          <a:prstGeom prst="rect">
            <a:avLst/>
          </a:prstGeom>
          <a:solidFill>
            <a:srgbClr val="1E1E7A"/>
          </a:solidFill>
          <a:ln w="12700">
            <a:solidFill>
              <a:srgbClr val="2A2D6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004304" y="3749040"/>
            <a:ext cx="64008" cy="932688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114032" y="384048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9"/>
                </a:solidFill>
              </a:rPr>
              <a:t>Vibe Coding × Claude AI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114032" y="4041648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D700"/>
                </a:solidFill>
              </a:rPr>
              <a:t>1인 개발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0" y="4956048"/>
            <a:ext cx="9144000" cy="73152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0C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41466"/>
          </a:solidFill>
          <a:ln w="12700">
            <a:solidFill>
              <a:srgbClr val="1414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640080" cy="566928"/>
          </a:xfrm>
          <a:prstGeom prst="rect">
            <a:avLst/>
          </a:prstGeom>
          <a:solidFill>
            <a:srgbClr val="1E205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700"/>
                </a:solidFill>
              </a:rPr>
              <a:t>02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51560" y="155448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시장 분석 &amp; 기회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51560" y="65836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</a:rPr>
              <a:t>Market Analysis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1078992"/>
            <a:ext cx="4114800" cy="3794760"/>
          </a:xfrm>
          <a:prstGeom prst="rect">
            <a:avLst/>
          </a:prstGeom>
          <a:solidFill>
            <a:srgbClr val="1E1E7A"/>
          </a:solidFill>
          <a:ln w="12700">
            <a:solidFill>
              <a:srgbClr val="2A2D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887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700"/>
                </a:solidFill>
              </a:rPr>
              <a:t>📊  시장 규모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600200"/>
            <a:ext cx="3794760" cy="640080"/>
          </a:xfrm>
          <a:prstGeom prst="rect">
            <a:avLst/>
          </a:prstGeom>
          <a:solidFill>
            <a:srgbClr val="12154A"/>
          </a:solidFill>
          <a:ln w="6350">
            <a:solidFill>
              <a:srgbClr val="2A2D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6459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99"/>
                </a:solidFill>
              </a:rPr>
              <a:t>예상 시청자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94360" y="187452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D700"/>
                </a:solidFill>
              </a:rPr>
              <a:t>50억 명+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291840" y="169164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A99"/>
                </a:solidFill>
              </a:rPr>
              <a:t>FIFA 공식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57200" y="2350008"/>
            <a:ext cx="3794760" cy="640080"/>
          </a:xfrm>
          <a:prstGeom prst="rect">
            <a:avLst/>
          </a:prstGeom>
          <a:solidFill>
            <a:srgbClr val="141466"/>
          </a:solidFill>
          <a:ln w="6350">
            <a:solidFill>
              <a:srgbClr val="2A2D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39572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99"/>
                </a:solidFill>
              </a:rPr>
              <a:t>축구 팬 인구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94360" y="262432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D700"/>
                </a:solidFill>
              </a:rPr>
              <a:t>40억 명+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291840" y="244144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A99"/>
                </a:solidFill>
              </a:rPr>
              <a:t>Nielsen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57200" y="3099816"/>
            <a:ext cx="3794760" cy="640080"/>
          </a:xfrm>
          <a:prstGeom prst="rect">
            <a:avLst/>
          </a:prstGeom>
          <a:solidFill>
            <a:srgbClr val="12154A"/>
          </a:solidFill>
          <a:ln w="6350">
            <a:solidFill>
              <a:srgbClr val="2A2D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14553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99"/>
                </a:solidFill>
              </a:rPr>
              <a:t>팬 투표 시장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94360" y="337413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D700"/>
                </a:solidFill>
              </a:rPr>
              <a:t>$12B+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291840" y="319125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A99"/>
                </a:solidFill>
              </a:rPr>
              <a:t>Statista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57200" y="3849624"/>
            <a:ext cx="3794760" cy="640080"/>
          </a:xfrm>
          <a:prstGeom prst="rect">
            <a:avLst/>
          </a:prstGeom>
          <a:solidFill>
            <a:srgbClr val="141466"/>
          </a:solidFill>
          <a:ln w="6350">
            <a:solidFill>
              <a:srgbClr val="2A2D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89534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99"/>
                </a:solidFill>
              </a:rPr>
              <a:t>스페인어권 팬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94360" y="412394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D700"/>
                </a:solidFill>
              </a:rPr>
              <a:t>8억 명+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291840" y="394106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A99"/>
                </a:solidFill>
              </a:rPr>
              <a:t>FIFA 지역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709160" y="1078992"/>
            <a:ext cx="4114800" cy="3794760"/>
          </a:xfrm>
          <a:prstGeom prst="rect">
            <a:avLst/>
          </a:prstGeom>
          <a:solidFill>
            <a:srgbClr val="1E1E7A"/>
          </a:solidFill>
          <a:ln w="12700">
            <a:solidFill>
              <a:srgbClr val="2A2D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11887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700"/>
                </a:solidFill>
              </a:rPr>
              <a:t>🔍  경쟁 환경 &amp; WC48 기회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846320" y="1600200"/>
            <a:ext cx="3794760" cy="640080"/>
          </a:xfrm>
          <a:prstGeom prst="rect">
            <a:avLst/>
          </a:prstGeom>
          <a:solidFill>
            <a:srgbClr val="12154A"/>
          </a:solidFill>
          <a:ln w="6350">
            <a:solidFill>
              <a:srgbClr val="2A2D6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46320" y="1600200"/>
            <a:ext cx="54864" cy="640080"/>
          </a:xfrm>
          <a:prstGeom prst="rect">
            <a:avLst/>
          </a:prstGeom>
          <a:solidFill>
            <a:srgbClr val="CF2E45"/>
          </a:solidFill>
          <a:ln w="12700">
            <a:solidFill>
              <a:srgbClr val="CF2E4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92624" y="166420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5F7"/>
                </a:solidFill>
              </a:rPr>
              <a:t>FIFA 공식 앱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992624" y="1911096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9"/>
                </a:solidFill>
              </a:rPr>
              <a:t>⚠  AI 뉴스·팬 투표 없음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09560" y="1664208"/>
            <a:ext cx="658368" cy="512064"/>
          </a:xfrm>
          <a:prstGeom prst="rect">
            <a:avLst/>
          </a:prstGeom>
          <a:solidFill>
            <a:srgbClr val="1A3A1A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909560" y="1664208"/>
            <a:ext cx="6583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59669"/>
                </a:solidFill>
              </a:rPr>
              <a:t>✓ 기회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846320" y="2350008"/>
            <a:ext cx="3794760" cy="640080"/>
          </a:xfrm>
          <a:prstGeom prst="rect">
            <a:avLst/>
          </a:prstGeom>
          <a:solidFill>
            <a:srgbClr val="141466"/>
          </a:solidFill>
          <a:ln w="6350">
            <a:solidFill>
              <a:srgbClr val="2A2D6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46320" y="2350008"/>
            <a:ext cx="54864" cy="640080"/>
          </a:xfrm>
          <a:prstGeom prst="rect">
            <a:avLst/>
          </a:prstGeom>
          <a:solidFill>
            <a:srgbClr val="CF2E45"/>
          </a:solidFill>
          <a:ln w="12700">
            <a:solidFill>
              <a:srgbClr val="CF2E4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92624" y="241401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5F7"/>
                </a:solidFill>
              </a:rPr>
              <a:t>SofaScore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992624" y="266090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9"/>
                </a:solidFill>
              </a:rPr>
              <a:t>⚠  이상형 월드컵 없음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909560" y="2414016"/>
            <a:ext cx="658368" cy="512064"/>
          </a:xfrm>
          <a:prstGeom prst="rect">
            <a:avLst/>
          </a:prstGeom>
          <a:solidFill>
            <a:srgbClr val="1A3A1A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909560" y="2414016"/>
            <a:ext cx="6583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59669"/>
                </a:solidFill>
              </a:rPr>
              <a:t>✓ 기회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846320" y="3099816"/>
            <a:ext cx="3794760" cy="640080"/>
          </a:xfrm>
          <a:prstGeom prst="rect">
            <a:avLst/>
          </a:prstGeom>
          <a:solidFill>
            <a:srgbClr val="12154A"/>
          </a:solidFill>
          <a:ln w="6350">
            <a:solidFill>
              <a:srgbClr val="2A2D6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846320" y="3099816"/>
            <a:ext cx="54864" cy="640080"/>
          </a:xfrm>
          <a:prstGeom prst="rect">
            <a:avLst/>
          </a:prstGeom>
          <a:solidFill>
            <a:srgbClr val="CF2E45"/>
          </a:solidFill>
          <a:ln w="12700">
            <a:solidFill>
              <a:srgbClr val="CF2E4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92624" y="316382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5F7"/>
                </a:solidFill>
              </a:rPr>
              <a:t>국내 포털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992624" y="3410712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9"/>
                </a:solidFill>
              </a:rPr>
              <a:t>⚠  글로벌 서비스 불가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909560" y="3163824"/>
            <a:ext cx="658368" cy="512064"/>
          </a:xfrm>
          <a:prstGeom prst="rect">
            <a:avLst/>
          </a:prstGeom>
          <a:solidFill>
            <a:srgbClr val="1A3A1A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909560" y="3163824"/>
            <a:ext cx="6583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59669"/>
                </a:solidFill>
              </a:rPr>
              <a:t>✓ 기회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846320" y="3849624"/>
            <a:ext cx="3794760" cy="640080"/>
          </a:xfrm>
          <a:prstGeom prst="rect">
            <a:avLst/>
          </a:prstGeom>
          <a:solidFill>
            <a:srgbClr val="141466"/>
          </a:solidFill>
          <a:ln w="6350">
            <a:solidFill>
              <a:srgbClr val="2A2D6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846320" y="3849624"/>
            <a:ext cx="54864" cy="640080"/>
          </a:xfrm>
          <a:prstGeom prst="rect">
            <a:avLst/>
          </a:prstGeom>
          <a:solidFill>
            <a:srgbClr val="CF2E45"/>
          </a:solidFill>
          <a:ln w="12700">
            <a:solidFill>
              <a:srgbClr val="CF2E4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92624" y="391363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5F7"/>
                </a:solidFill>
              </a:rPr>
              <a:t>Ranker.com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992624" y="416052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9"/>
                </a:solidFill>
              </a:rPr>
              <a:t>⚠  축구 특화·AI 없음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7909560" y="3913632"/>
            <a:ext cx="658368" cy="512064"/>
          </a:xfrm>
          <a:prstGeom prst="rect">
            <a:avLst/>
          </a:prstGeom>
          <a:solidFill>
            <a:srgbClr val="1A3A1A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909560" y="3913632"/>
            <a:ext cx="6583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59669"/>
                </a:solidFill>
              </a:rPr>
              <a:t>✓ 기회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0" y="4956048"/>
            <a:ext cx="9144000" cy="73152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0C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41466"/>
          </a:solidFill>
          <a:ln w="12700">
            <a:solidFill>
              <a:srgbClr val="1414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640080" cy="566928"/>
          </a:xfrm>
          <a:prstGeom prst="rect">
            <a:avLst/>
          </a:prstGeom>
          <a:solidFill>
            <a:srgbClr val="1E205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700"/>
                </a:solidFill>
              </a:rPr>
              <a:t>03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51560" y="155448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서비스 구조 — 7개 도메인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51560" y="65836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</a:rPr>
              <a:t>Service Architecture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9184" y="1115568"/>
            <a:ext cx="2121408" cy="1737360"/>
          </a:xfrm>
          <a:prstGeom prst="rect">
            <a:avLst/>
          </a:prstGeom>
          <a:solidFill>
            <a:srgbClr val="1E1E7A"/>
          </a:solidFill>
          <a:ln w="12700">
            <a:solidFill>
              <a:srgbClr val="2A2D6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9184" y="1115568"/>
            <a:ext cx="2121408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27632" y="1225296"/>
            <a:ext cx="713232" cy="201168"/>
          </a:xfrm>
          <a:prstGeom prst="rect">
            <a:avLst/>
          </a:prstGeom>
          <a:solidFill>
            <a:srgbClr val="1A1040"/>
          </a:solidFill>
          <a:ln w="6350">
            <a:solidFill>
              <a:srgbClr val="FFD7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27632" y="1225296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D700"/>
                </a:solidFill>
              </a:rPr>
              <a:t>🌑 DARK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420624" y="124358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700"/>
                </a:solidFill>
              </a:rPr>
              <a:t>D0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20624" y="1536192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Launch Pad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20624" y="1920240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A8B8E0"/>
                </a:solidFill>
              </a:rPr>
              <a:t>사전 랜딩·웨이트리스트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20624" y="2487168"/>
            <a:ext cx="502920" cy="201168"/>
          </a:xfrm>
          <a:prstGeom prst="rect">
            <a:avLst/>
          </a:prstGeom>
          <a:solidFill>
            <a:srgbClr val="1A2040"/>
          </a:solidFill>
          <a:ln w="6350">
            <a:solidFill>
              <a:srgbClr val="2A2D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0624" y="248716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D700"/>
                </a:solidFill>
              </a:rPr>
              <a:t>MVP 1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2496312" y="1115568"/>
            <a:ext cx="2121408" cy="1737360"/>
          </a:xfrm>
          <a:prstGeom prst="rect">
            <a:avLst/>
          </a:prstGeom>
          <a:solidFill>
            <a:srgbClr val="1E1E7A"/>
          </a:solidFill>
          <a:ln w="12700">
            <a:solidFill>
              <a:srgbClr val="2A2D6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496312" y="1115568"/>
            <a:ext cx="2121408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94760" y="1225296"/>
            <a:ext cx="713232" cy="201168"/>
          </a:xfrm>
          <a:prstGeom prst="rect">
            <a:avLst/>
          </a:prstGeom>
          <a:solidFill>
            <a:srgbClr val="1A1040"/>
          </a:solidFill>
          <a:ln w="6350">
            <a:solidFill>
              <a:srgbClr val="FFD7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94760" y="1225296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D700"/>
                </a:solidFill>
              </a:rPr>
              <a:t>🌑 DARK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2587752" y="124358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700"/>
                </a:solidFill>
              </a:rPr>
              <a:t>D1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587752" y="1536192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The Pitch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587752" y="1920240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A8B8E0"/>
                </a:solidFill>
              </a:rPr>
              <a:t>메인 홈·트렌딩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587752" y="2487168"/>
            <a:ext cx="502920" cy="201168"/>
          </a:xfrm>
          <a:prstGeom prst="rect">
            <a:avLst/>
          </a:prstGeom>
          <a:solidFill>
            <a:srgbClr val="1A2040"/>
          </a:solidFill>
          <a:ln w="6350">
            <a:solidFill>
              <a:srgbClr val="2A2D6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87752" y="248716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D700"/>
                </a:solidFill>
              </a:rPr>
              <a:t>MVP 1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4663440" y="1115568"/>
            <a:ext cx="2121408" cy="1737360"/>
          </a:xfrm>
          <a:prstGeom prst="rect">
            <a:avLst/>
          </a:prstGeom>
          <a:solidFill>
            <a:srgbClr val="1E1E7A"/>
          </a:solidFill>
          <a:ln w="12700">
            <a:solidFill>
              <a:srgbClr val="2A2D6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1115568"/>
            <a:ext cx="2121408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61888" y="1225296"/>
            <a:ext cx="713232" cy="201168"/>
          </a:xfrm>
          <a:prstGeom prst="rect">
            <a:avLst/>
          </a:prstGeom>
          <a:solidFill>
            <a:srgbClr val="1A1040"/>
          </a:solidFill>
          <a:ln w="6350">
            <a:solidFill>
              <a:srgbClr val="FFD7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61888" y="1225296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D700"/>
                </a:solidFill>
              </a:rPr>
              <a:t>🌑 DARK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4754880" y="124358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700"/>
                </a:solidFill>
              </a:rPr>
              <a:t>D2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754880" y="1536192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The Lab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754880" y="1920240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A8B8E0"/>
                </a:solidFill>
              </a:rPr>
              <a:t>대진 생성 (관리자)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54880" y="2487168"/>
            <a:ext cx="502920" cy="201168"/>
          </a:xfrm>
          <a:prstGeom prst="rect">
            <a:avLst/>
          </a:prstGeom>
          <a:solidFill>
            <a:srgbClr val="1A2040"/>
          </a:solidFill>
          <a:ln w="6350">
            <a:solidFill>
              <a:srgbClr val="2A2D6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0" y="248716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D700"/>
                </a:solidFill>
              </a:rPr>
              <a:t>MVP 1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6830568" y="1115568"/>
            <a:ext cx="2121408" cy="1737360"/>
          </a:xfrm>
          <a:prstGeom prst="rect">
            <a:avLst/>
          </a:prstGeom>
          <a:solidFill>
            <a:srgbClr val="1E1E7A"/>
          </a:solidFill>
          <a:ln w="12700">
            <a:solidFill>
              <a:srgbClr val="2A2D6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830568" y="1115568"/>
            <a:ext cx="2121408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129016" y="1225296"/>
            <a:ext cx="713232" cy="201168"/>
          </a:xfrm>
          <a:prstGeom prst="rect">
            <a:avLst/>
          </a:prstGeom>
          <a:solidFill>
            <a:srgbClr val="1A1040"/>
          </a:solidFill>
          <a:ln w="6350">
            <a:solidFill>
              <a:srgbClr val="FFD7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129016" y="1225296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D700"/>
                </a:solidFill>
              </a:rPr>
              <a:t>🌑 DARK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6922008" y="124358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700"/>
                </a:solidFill>
              </a:rPr>
              <a:t>D3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922008" y="1536192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The Arena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922008" y="1920240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A8B8E0"/>
                </a:solidFill>
              </a:rPr>
              <a:t>투표·Crown Card·뉴스룸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922008" y="2487168"/>
            <a:ext cx="502920" cy="201168"/>
          </a:xfrm>
          <a:prstGeom prst="rect">
            <a:avLst/>
          </a:prstGeom>
          <a:solidFill>
            <a:srgbClr val="1A2040"/>
          </a:solidFill>
          <a:ln w="6350">
            <a:solidFill>
              <a:srgbClr val="2A2D6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922008" y="248716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D700"/>
                </a:solidFill>
              </a:rPr>
              <a:t>MVP 1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329184" y="3035808"/>
            <a:ext cx="2834640" cy="1737360"/>
          </a:xfrm>
          <a:prstGeom prst="rect">
            <a:avLst/>
          </a:prstGeom>
          <a:solidFill>
            <a:srgbClr val="1E1E7A"/>
          </a:solidFill>
          <a:ln w="12700">
            <a:solidFill>
              <a:srgbClr val="2A2D6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329184" y="3035808"/>
            <a:ext cx="2834640" cy="54864"/>
          </a:xfrm>
          <a:prstGeom prst="rect">
            <a:avLst/>
          </a:prstGeom>
          <a:solidFill>
            <a:srgbClr val="39CFB8"/>
          </a:solidFill>
          <a:ln w="12700">
            <a:solidFill>
              <a:srgbClr val="39CFB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340864" y="3145536"/>
            <a:ext cx="713232" cy="201168"/>
          </a:xfrm>
          <a:prstGeom prst="rect">
            <a:avLst/>
          </a:prstGeom>
          <a:solidFill>
            <a:srgbClr val="1A3040"/>
          </a:solidFill>
          <a:ln w="6350">
            <a:solidFill>
              <a:srgbClr val="39CFB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340864" y="3145536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9CFB8"/>
                </a:solidFill>
              </a:rPr>
              <a:t>☀️ LIGHT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420624" y="316382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9CFB8"/>
                </a:solidFill>
              </a:rPr>
              <a:t>D4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420624" y="345643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Locker Room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420624" y="38404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A8B8E0"/>
                </a:solidFill>
              </a:rPr>
              <a:t>유저 프로필·히스토리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20624" y="4407408"/>
            <a:ext cx="502920" cy="201168"/>
          </a:xfrm>
          <a:prstGeom prst="rect">
            <a:avLst/>
          </a:prstGeom>
          <a:solidFill>
            <a:srgbClr val="1A2040"/>
          </a:solidFill>
          <a:ln w="6350">
            <a:solidFill>
              <a:srgbClr val="2A2D6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20624" y="440740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9CFB8"/>
                </a:solidFill>
              </a:rPr>
              <a:t>MVP 2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3209544" y="3035808"/>
            <a:ext cx="2834640" cy="1737360"/>
          </a:xfrm>
          <a:prstGeom prst="rect">
            <a:avLst/>
          </a:prstGeom>
          <a:solidFill>
            <a:srgbClr val="1E1E7A"/>
          </a:solidFill>
          <a:ln w="12700">
            <a:solidFill>
              <a:srgbClr val="2A2D6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3209544" y="3035808"/>
            <a:ext cx="2834640" cy="54864"/>
          </a:xfrm>
          <a:prstGeom prst="rect">
            <a:avLst/>
          </a:prstGeom>
          <a:solidFill>
            <a:srgbClr val="39CFB8"/>
          </a:solidFill>
          <a:ln w="12700">
            <a:solidFill>
              <a:srgbClr val="39CFB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221224" y="3145536"/>
            <a:ext cx="713232" cy="201168"/>
          </a:xfrm>
          <a:prstGeom prst="rect">
            <a:avLst/>
          </a:prstGeom>
          <a:solidFill>
            <a:srgbClr val="1A3040"/>
          </a:solidFill>
          <a:ln w="6350">
            <a:solidFill>
              <a:srgbClr val="39CFB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221224" y="3145536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9CFB8"/>
                </a:solidFill>
              </a:rPr>
              <a:t>☀️ LIGHT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3300984" y="316382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9CFB8"/>
                </a:solidFill>
              </a:rPr>
              <a:t>D5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3300984" y="345643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Policy Hub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3300984" y="38404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A8B8E0"/>
                </a:solidFill>
              </a:rPr>
              <a:t>이용약관·개인정보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3300984" y="4407408"/>
            <a:ext cx="502920" cy="201168"/>
          </a:xfrm>
          <a:prstGeom prst="rect">
            <a:avLst/>
          </a:prstGeom>
          <a:solidFill>
            <a:srgbClr val="1A2040"/>
          </a:solidFill>
          <a:ln w="6350">
            <a:solidFill>
              <a:srgbClr val="2A2D6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300984" y="440740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9CFB8"/>
                </a:solidFill>
              </a:rPr>
              <a:t>MVP 1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6089904" y="3035808"/>
            <a:ext cx="2834640" cy="1737360"/>
          </a:xfrm>
          <a:prstGeom prst="rect">
            <a:avLst/>
          </a:prstGeom>
          <a:solidFill>
            <a:srgbClr val="1E1E7A"/>
          </a:solidFill>
          <a:ln w="12700">
            <a:solidFill>
              <a:srgbClr val="2A2D6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6089904" y="3035808"/>
            <a:ext cx="2834640" cy="54864"/>
          </a:xfrm>
          <a:prstGeom prst="rect">
            <a:avLst/>
          </a:prstGeom>
          <a:solidFill>
            <a:srgbClr val="39CFB8"/>
          </a:solidFill>
          <a:ln w="12700">
            <a:solidFill>
              <a:srgbClr val="39CFB8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101584" y="3145536"/>
            <a:ext cx="713232" cy="201168"/>
          </a:xfrm>
          <a:prstGeom prst="rect">
            <a:avLst/>
          </a:prstGeom>
          <a:solidFill>
            <a:srgbClr val="1A3040"/>
          </a:solidFill>
          <a:ln w="6350">
            <a:solidFill>
              <a:srgbClr val="39CFB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101584" y="3145536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9CFB8"/>
                </a:solidFill>
              </a:rPr>
              <a:t>☀️ LIGHT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6181344" y="316382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9CFB8"/>
                </a:solidFill>
              </a:rPr>
              <a:t>D6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6181344" y="345643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Admin Dashboard</a:t>
            </a:r>
            <a:endParaRPr lang="en-US" sz="1300" dirty="0"/>
          </a:p>
        </p:txBody>
      </p:sp>
      <p:sp>
        <p:nvSpPr>
          <p:cNvPr id="67" name="Text 65"/>
          <p:cNvSpPr/>
          <p:nvPr/>
        </p:nvSpPr>
        <p:spPr>
          <a:xfrm>
            <a:off x="6181344" y="38404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A8B8E0"/>
                </a:solidFill>
              </a:rPr>
              <a:t>관리자 대시보드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6181344" y="4407408"/>
            <a:ext cx="502920" cy="201168"/>
          </a:xfrm>
          <a:prstGeom prst="rect">
            <a:avLst/>
          </a:prstGeom>
          <a:solidFill>
            <a:srgbClr val="1A2040"/>
          </a:solidFill>
          <a:ln w="6350">
            <a:solidFill>
              <a:srgbClr val="2A2D6B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181344" y="440740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9CFB8"/>
                </a:solidFill>
              </a:rPr>
              <a:t>MVP 1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0" y="4956048"/>
            <a:ext cx="9144000" cy="73152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0C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41466"/>
          </a:solidFill>
          <a:ln w="12700">
            <a:solidFill>
              <a:srgbClr val="1414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640080" cy="566928"/>
          </a:xfrm>
          <a:prstGeom prst="rect">
            <a:avLst/>
          </a:prstGeom>
          <a:solidFill>
            <a:srgbClr val="1E205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700"/>
                </a:solidFill>
              </a:rPr>
              <a:t>04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51560" y="155448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핵심 차별점 &amp; 경쟁 우위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51560" y="65836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</a:rPr>
              <a:t>Key Differentiators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1143000"/>
            <a:ext cx="8503920" cy="1097280"/>
          </a:xfrm>
          <a:prstGeom prst="rect">
            <a:avLst/>
          </a:prstGeom>
          <a:solidFill>
            <a:srgbClr val="1E1E7A"/>
          </a:solidFill>
          <a:ln w="12700">
            <a:solidFill>
              <a:srgbClr val="2A2D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143000"/>
            <a:ext cx="73152" cy="109728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435608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🤖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188720" y="125272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D700"/>
                </a:solidFill>
              </a:rPr>
              <a:t>Fan Intelligence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520440" y="1280160"/>
            <a:ext cx="777240" cy="237744"/>
          </a:xfrm>
          <a:prstGeom prst="rect">
            <a:avLst/>
          </a:prstGeom>
          <a:solidFill>
            <a:srgbClr val="141466"/>
          </a:solidFill>
          <a:ln w="6350">
            <a:solidFill>
              <a:srgbClr val="FFD7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20440" y="1280160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D700"/>
                </a:solidFill>
              </a:rPr>
              <a:t>독점 AI 뉴스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188720" y="1655064"/>
            <a:ext cx="7223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A8B8E0"/>
                </a:solidFill>
              </a:rPr>
              <a:t>전 세계 유일 실시간 팬 투표 데이터 기반 AI 뉴스.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A8B8E0"/>
                </a:solidFill>
              </a:rPr>
              <a:t>"AI가 썼다"가 아닌 "팬 데이터가 근거" — 검증 가능한 팩트 신뢰.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2377440"/>
            <a:ext cx="8503920" cy="1097280"/>
          </a:xfrm>
          <a:prstGeom prst="rect">
            <a:avLst/>
          </a:prstGeom>
          <a:solidFill>
            <a:srgbClr val="1E1E7A"/>
          </a:solidFill>
          <a:ln w="12700">
            <a:solidFill>
              <a:srgbClr val="2A2D6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2377440"/>
            <a:ext cx="73152" cy="1097280"/>
          </a:xfrm>
          <a:prstGeom prst="rect">
            <a:avLst/>
          </a:prstGeom>
          <a:solidFill>
            <a:srgbClr val="39CFB8"/>
          </a:solidFill>
          <a:ln w="12700">
            <a:solidFill>
              <a:srgbClr val="39CF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670048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👑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188720" y="248716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9CFB8"/>
                </a:solidFill>
              </a:rPr>
              <a:t>Crown Card 바이럴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520440" y="2514600"/>
            <a:ext cx="777240" cy="237744"/>
          </a:xfrm>
          <a:prstGeom prst="rect">
            <a:avLst/>
          </a:prstGeom>
          <a:solidFill>
            <a:srgbClr val="141466"/>
          </a:solidFill>
          <a:ln w="6350">
            <a:solidFill>
              <a:srgbClr val="39CF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20440" y="2514600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9CFB8"/>
                </a:solidFill>
              </a:rPr>
              <a:t>바이럴 엔진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188720" y="2889504"/>
            <a:ext cx="7223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A8B8E0"/>
                </a:solidFill>
              </a:rPr>
              <a:t>Champion 결정 시 개인화 결과 이미지(Crown Card) 자동 생성.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A8B8E0"/>
                </a:solidFill>
              </a:rPr>
              <a:t>"내가 뽑은 우승자" → SNS 자발 공유 → 바이럴 CAC ≈ 0.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0040" y="3611880"/>
            <a:ext cx="8503920" cy="1097280"/>
          </a:xfrm>
          <a:prstGeom prst="rect">
            <a:avLst/>
          </a:prstGeom>
          <a:solidFill>
            <a:srgbClr val="1E1E7A"/>
          </a:solidFill>
          <a:ln w="12700">
            <a:solidFill>
              <a:srgbClr val="2A2D6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" y="3611880"/>
            <a:ext cx="73152" cy="1097280"/>
          </a:xfrm>
          <a:prstGeom prst="rect">
            <a:avLst/>
          </a:prstGeom>
          <a:solidFill>
            <a:srgbClr val="CF2E45"/>
          </a:solidFill>
          <a:ln w="12700">
            <a:solidFill>
              <a:srgbClr val="CF2E4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904488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1188720" y="372160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F2E45"/>
                </a:solidFill>
              </a:rPr>
              <a:t>독점 팬 데이터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520440" y="3749040"/>
            <a:ext cx="777240" cy="237744"/>
          </a:xfrm>
          <a:prstGeom prst="rect">
            <a:avLst/>
          </a:prstGeom>
          <a:solidFill>
            <a:srgbClr val="141466"/>
          </a:solidFill>
          <a:ln w="6350">
            <a:solidFill>
              <a:srgbClr val="CF2E4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20440" y="3749040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F2E45"/>
                </a:solidFill>
              </a:rPr>
              <a:t>데이터 자산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188720" y="4123944"/>
            <a:ext cx="7223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A8B8E0"/>
                </a:solidFill>
              </a:rPr>
              <a:t>축적되는 팬 투표 데이터 = 누구도 복제 불가한 독점 자산.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A8B8E0"/>
                </a:solidFill>
              </a:rPr>
              <a:t>Fan Intelligence → 미디어 파트너십 → B2B SaaS (MVP 3).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0" y="4956048"/>
            <a:ext cx="9144000" cy="73152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0C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A0A"/>
          </a:solidFill>
          <a:ln w="12700">
            <a:solidFill>
              <a:srgbClr val="0A1A0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39CFB8"/>
          </a:solidFill>
          <a:ln w="12700">
            <a:solidFill>
              <a:srgbClr val="39CFB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55448"/>
            <a:ext cx="658368" cy="566928"/>
          </a:xfrm>
          <a:prstGeom prst="rect">
            <a:avLst/>
          </a:prstGeom>
          <a:solidFill>
            <a:srgbClr val="0A3020"/>
          </a:solidFill>
          <a:ln w="12700">
            <a:solidFill>
              <a:srgbClr val="39CFB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55448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9CFB8"/>
                </a:solidFill>
              </a:rPr>
              <a:t>05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69848" y="155448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★ Fan Intelligence — AI 뉴스 전략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543800" y="201168"/>
            <a:ext cx="1280160" cy="274320"/>
          </a:xfrm>
          <a:prstGeom prst="rect">
            <a:avLst/>
          </a:prstGeom>
          <a:solidFill>
            <a:srgbClr val="39CFB8"/>
          </a:solidFill>
          <a:ln w="12700">
            <a:solidFill>
              <a:srgbClr val="39CF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43800" y="20116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0C3B"/>
                </a:solidFill>
              </a:rPr>
              <a:t>★ 신규 섹션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69848" y="62179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</a:rPr>
              <a:t>실시간 팬 투표 데이터 기반 AI 뉴스 생성 시스템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1078992"/>
            <a:ext cx="8503920" cy="502920"/>
          </a:xfrm>
          <a:prstGeom prst="rect">
            <a:avLst/>
          </a:prstGeom>
          <a:solidFill>
            <a:srgbClr val="0A200A"/>
          </a:solidFill>
          <a:ln w="12700">
            <a:solidFill>
              <a:srgbClr val="39CF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11556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9CFB8"/>
                </a:solidFill>
              </a:rPr>
              <a:t>"AI가 썼다"는 사실보다 "팬 데이터가 근거"라는 사실이 앞선다. 데이터가 주인공, AI는 도구.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1691640"/>
            <a:ext cx="2011680" cy="320040"/>
          </a:xfrm>
          <a:prstGeom prst="rect">
            <a:avLst/>
          </a:prstGeom>
          <a:solidFill>
            <a:srgbClr val="141466"/>
          </a:solidFill>
          <a:ln w="6350">
            <a:solidFill>
              <a:srgbClr val="2A2D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3192" y="1691640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700"/>
                </a:solidFill>
              </a:rPr>
              <a:t>구분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331720" y="1691640"/>
            <a:ext cx="3017520" cy="320040"/>
          </a:xfrm>
          <a:prstGeom prst="rect">
            <a:avLst/>
          </a:prstGeom>
          <a:solidFill>
            <a:srgbClr val="141466"/>
          </a:solidFill>
          <a:ln w="6350">
            <a:solidFill>
              <a:srgbClr val="2A2D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04872" y="1691640"/>
            <a:ext cx="28712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700"/>
                </a:solidFill>
              </a:rPr>
              <a:t>일반 AI 뉴스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349240" y="1691640"/>
            <a:ext cx="3017520" cy="320040"/>
          </a:xfrm>
          <a:prstGeom prst="rect">
            <a:avLst/>
          </a:prstGeom>
          <a:solidFill>
            <a:srgbClr val="141466"/>
          </a:solidFill>
          <a:ln w="6350">
            <a:solidFill>
              <a:srgbClr val="2A2D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22392" y="1691640"/>
            <a:ext cx="28712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700"/>
                </a:solidFill>
              </a:rPr>
              <a:t>Fan Intelligence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2020824"/>
            <a:ext cx="2011680" cy="329184"/>
          </a:xfrm>
          <a:prstGeom prst="rect">
            <a:avLst/>
          </a:prstGeom>
          <a:solidFill>
            <a:srgbClr val="1E1E7A"/>
          </a:solidFill>
          <a:ln w="6350">
            <a:solidFill>
              <a:srgbClr val="2A2D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206654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E0"/>
                </a:solidFill>
              </a:rPr>
              <a:t>데이터 근거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331720" y="2020824"/>
            <a:ext cx="3017520" cy="329184"/>
          </a:xfrm>
          <a:prstGeom prst="rect">
            <a:avLst/>
          </a:prstGeom>
          <a:solidFill>
            <a:srgbClr val="1E1E7A"/>
          </a:solidFill>
          <a:ln w="6350">
            <a:solidFill>
              <a:srgbClr val="2A2D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423160" y="2066544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99"/>
                </a:solidFill>
              </a:rPr>
              <a:t>인터넷 학습 데이터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349240" y="2020824"/>
            <a:ext cx="3017520" cy="329184"/>
          </a:xfrm>
          <a:prstGeom prst="rect">
            <a:avLst/>
          </a:prstGeom>
          <a:solidFill>
            <a:srgbClr val="0A1A0A"/>
          </a:solidFill>
          <a:ln w="6350">
            <a:solidFill>
              <a:srgbClr val="2A2D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40680" y="2066544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CFB8"/>
                </a:solidFill>
              </a:rPr>
              <a:t>WC48 실시간 팬 투표 데이터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0040" y="2368296"/>
            <a:ext cx="2011680" cy="329184"/>
          </a:xfrm>
          <a:prstGeom prst="rect">
            <a:avLst/>
          </a:prstGeom>
          <a:solidFill>
            <a:srgbClr val="12154A"/>
          </a:solidFill>
          <a:ln w="6350">
            <a:solidFill>
              <a:srgbClr val="2A2D6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241401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E0"/>
                </a:solidFill>
              </a:rPr>
              <a:t>신뢰 기반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331720" y="2368296"/>
            <a:ext cx="3017520" cy="329184"/>
          </a:xfrm>
          <a:prstGeom prst="rect">
            <a:avLst/>
          </a:prstGeom>
          <a:solidFill>
            <a:srgbClr val="12154A"/>
          </a:solidFill>
          <a:ln w="6350">
            <a:solidFill>
              <a:srgbClr val="2A2D6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423160" y="2414016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99"/>
                </a:solidFill>
              </a:rPr>
              <a:t>AI 브랜드 신뢰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349240" y="2368296"/>
            <a:ext cx="3017520" cy="329184"/>
          </a:xfrm>
          <a:prstGeom prst="rect">
            <a:avLst/>
          </a:prstGeom>
          <a:solidFill>
            <a:srgbClr val="0A1A0A"/>
          </a:solidFill>
          <a:ln w="6350">
            <a:solidFill>
              <a:srgbClr val="2A2D6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40680" y="2414016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CFB8"/>
                </a:solidFill>
              </a:rPr>
              <a:t>투표 수치 (검증 가능한 팩트)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20040" y="2715768"/>
            <a:ext cx="2011680" cy="329184"/>
          </a:xfrm>
          <a:prstGeom prst="rect">
            <a:avLst/>
          </a:prstGeom>
          <a:solidFill>
            <a:srgbClr val="1E1E7A"/>
          </a:solidFill>
          <a:ln w="6350">
            <a:solidFill>
              <a:srgbClr val="2A2D6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276148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E0"/>
                </a:solidFill>
              </a:rPr>
              <a:t>독점성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331720" y="2715768"/>
            <a:ext cx="3017520" cy="329184"/>
          </a:xfrm>
          <a:prstGeom prst="rect">
            <a:avLst/>
          </a:prstGeom>
          <a:solidFill>
            <a:srgbClr val="1E1E7A"/>
          </a:solidFill>
          <a:ln w="6350">
            <a:solidFill>
              <a:srgbClr val="2A2D6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423160" y="2761488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99"/>
                </a:solidFill>
              </a:rPr>
              <a:t>누구나 생성 가능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349240" y="2715768"/>
            <a:ext cx="3017520" cy="329184"/>
          </a:xfrm>
          <a:prstGeom prst="rect">
            <a:avLst/>
          </a:prstGeom>
          <a:solidFill>
            <a:srgbClr val="0A1A0A"/>
          </a:solidFill>
          <a:ln w="6350">
            <a:solidFill>
              <a:srgbClr val="2A2D6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40680" y="2761488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CFB8"/>
                </a:solidFill>
              </a:rPr>
              <a:t>WC48만 보유한 독점 데이터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20040" y="3063240"/>
            <a:ext cx="2011680" cy="329184"/>
          </a:xfrm>
          <a:prstGeom prst="rect">
            <a:avLst/>
          </a:prstGeom>
          <a:solidFill>
            <a:srgbClr val="12154A"/>
          </a:solidFill>
          <a:ln w="6350">
            <a:solidFill>
              <a:srgbClr val="2A2D6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1480" y="310896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E0"/>
                </a:solidFill>
              </a:rPr>
              <a:t>사용자 인식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2331720" y="3063240"/>
            <a:ext cx="3017520" cy="329184"/>
          </a:xfrm>
          <a:prstGeom prst="rect">
            <a:avLst/>
          </a:prstGeom>
          <a:solidFill>
            <a:srgbClr val="12154A"/>
          </a:solidFill>
          <a:ln w="6350">
            <a:solidFill>
              <a:srgbClr val="2A2D6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423160" y="310896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99"/>
                </a:solidFill>
              </a:rPr>
              <a:t>"AI가 지어낸 이야기?"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349240" y="3063240"/>
            <a:ext cx="3017520" cy="329184"/>
          </a:xfrm>
          <a:prstGeom prst="rect">
            <a:avLst/>
          </a:prstGeom>
          <a:solidFill>
            <a:srgbClr val="0A1A0A"/>
          </a:solidFill>
          <a:ln w="6350">
            <a:solidFill>
              <a:srgbClr val="2A2D6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40680" y="310896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CFB8"/>
                </a:solidFill>
              </a:rPr>
              <a:t>"내가 직접 투표한 결과!"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320040" y="3429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700"/>
                </a:solidFill>
              </a:rPr>
              <a:t>AI 자동 검수 6항목: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20040" y="3749040"/>
            <a:ext cx="2606040" cy="274320"/>
          </a:xfrm>
          <a:prstGeom prst="rect">
            <a:avLst/>
          </a:prstGeom>
          <a:solidFill>
            <a:srgbClr val="1E1E7A"/>
          </a:solidFill>
          <a:ln w="6350">
            <a:solidFill>
              <a:srgbClr val="2A2D6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11480" y="3803904"/>
            <a:ext cx="164592" cy="16459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080" y="378561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5F7"/>
                </a:solidFill>
              </a:rPr>
              <a:t>① AI-Report 표기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154680" y="3749040"/>
            <a:ext cx="2606040" cy="274320"/>
          </a:xfrm>
          <a:prstGeom prst="rect">
            <a:avLst/>
          </a:prstGeom>
          <a:solidFill>
            <a:srgbClr val="1E1E7A"/>
          </a:solidFill>
          <a:ln w="6350">
            <a:solidFill>
              <a:srgbClr val="2A2D6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246120" y="3803904"/>
            <a:ext cx="164592" cy="16459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474720" y="378561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5F7"/>
                </a:solidFill>
              </a:rPr>
              <a:t>② 수치 일치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989320" y="3749040"/>
            <a:ext cx="2606040" cy="274320"/>
          </a:xfrm>
          <a:prstGeom prst="rect">
            <a:avLst/>
          </a:prstGeom>
          <a:solidFill>
            <a:srgbClr val="1E1E7A"/>
          </a:solidFill>
          <a:ln w="6350">
            <a:solidFill>
              <a:srgbClr val="2A2D6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080760" y="3803904"/>
            <a:ext cx="164592" cy="16459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309360" y="378561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5F7"/>
                </a:solidFill>
              </a:rPr>
              <a:t>③ 명예훼손 검사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320040" y="4096512"/>
            <a:ext cx="2606040" cy="274320"/>
          </a:xfrm>
          <a:prstGeom prst="rect">
            <a:avLst/>
          </a:prstGeom>
          <a:solidFill>
            <a:srgbClr val="1E1E7A"/>
          </a:solidFill>
          <a:ln w="6350">
            <a:solidFill>
              <a:srgbClr val="2A2D6B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11480" y="4151376"/>
            <a:ext cx="164592" cy="16459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40080" y="413308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5F7"/>
                </a:solidFill>
              </a:rPr>
              <a:t>④ 저작권 검사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3154680" y="4096512"/>
            <a:ext cx="2606040" cy="274320"/>
          </a:xfrm>
          <a:prstGeom prst="rect">
            <a:avLst/>
          </a:prstGeom>
          <a:solidFill>
            <a:srgbClr val="1E1E7A"/>
          </a:solidFill>
          <a:ln w="6350">
            <a:solidFill>
              <a:srgbClr val="2A2D6B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246120" y="4151376"/>
            <a:ext cx="164592" cy="16459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474720" y="413308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5F7"/>
                </a:solidFill>
              </a:rPr>
              <a:t>⑤ 데이터 출처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5989320" y="4096512"/>
            <a:ext cx="2606040" cy="274320"/>
          </a:xfrm>
          <a:prstGeom prst="rect">
            <a:avLst/>
          </a:prstGeom>
          <a:solidFill>
            <a:srgbClr val="1E1E7A"/>
          </a:solidFill>
          <a:ln w="6350">
            <a:solidFill>
              <a:srgbClr val="2A2D6B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080760" y="4151376"/>
            <a:ext cx="164592" cy="16459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309360" y="413308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5F7"/>
                </a:solidFill>
              </a:rPr>
              <a:t>⑥ 분량·언어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0" y="4956048"/>
            <a:ext cx="9144000" cy="73152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0C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A0A"/>
          </a:solidFill>
          <a:ln w="12700">
            <a:solidFill>
              <a:srgbClr val="0A1A0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39CFB8"/>
          </a:solidFill>
          <a:ln w="12700">
            <a:solidFill>
              <a:srgbClr val="39CFB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55448"/>
            <a:ext cx="658368" cy="566928"/>
          </a:xfrm>
          <a:prstGeom prst="rect">
            <a:avLst/>
          </a:prstGeom>
          <a:solidFill>
            <a:srgbClr val="0A3020"/>
          </a:solidFill>
          <a:ln w="12700">
            <a:solidFill>
              <a:srgbClr val="39CFB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55448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9CFB8"/>
                </a:solidFill>
              </a:rPr>
              <a:t>06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69848" y="18288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★ 데이터 기반 뉴스 뷰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543800" y="201168"/>
            <a:ext cx="1280160" cy="274320"/>
          </a:xfrm>
          <a:prstGeom prst="rect">
            <a:avLst/>
          </a:prstGeom>
          <a:solidFill>
            <a:srgbClr val="39CFB8"/>
          </a:solidFill>
          <a:ln w="12700">
            <a:solidFill>
              <a:srgbClr val="39CF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43800" y="20116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0C3B"/>
                </a:solidFill>
              </a:rPr>
              <a:t>★ 신규 섹션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69848" y="65836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</a:rPr>
              <a:t>The Arena 뉴스룸 — "읽는 뉴스"가 아닌 "데이터를 보는 뉴스" 경험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1078992"/>
            <a:ext cx="4114800" cy="3794760"/>
          </a:xfrm>
          <a:prstGeom prst="rect">
            <a:avLst/>
          </a:prstGeom>
          <a:solidFill>
            <a:srgbClr val="1E1E7A"/>
          </a:solidFill>
          <a:ln w="12700">
            <a:solidFill>
              <a:srgbClr val="2A2D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1704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D700"/>
                </a:solidFill>
              </a:rPr>
              <a:t>카드 목록 뷰 — 바이라인 구성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1508760"/>
            <a:ext cx="3794760" cy="402336"/>
          </a:xfrm>
          <a:prstGeom prst="rect">
            <a:avLst/>
          </a:prstGeom>
          <a:solidFill>
            <a:srgbClr val="12154A"/>
          </a:solidFill>
          <a:ln w="6350">
            <a:solidFill>
              <a:srgbClr val="2A2D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158191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9CFB8"/>
                </a:solidFill>
              </a:rPr>
              <a:t>1행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51560" y="158191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E0"/>
                </a:solidFill>
              </a:rPr>
              <a:t>[WC48] · [Fan Intelligence] · [날짜]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1984248"/>
            <a:ext cx="3794760" cy="402336"/>
          </a:xfrm>
          <a:prstGeom prst="rect">
            <a:avLst/>
          </a:prstGeom>
          <a:solidFill>
            <a:srgbClr val="141466"/>
          </a:solidFill>
          <a:ln w="6350">
            <a:solidFill>
              <a:srgbClr val="2A2D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205740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9CFB8"/>
                </a:solidFill>
              </a:rPr>
              <a:t>2행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51560" y="205740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E0"/>
                </a:solidFill>
              </a:rPr>
              <a:t>● AI-Report 배지 (11px, 골드)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2459736"/>
            <a:ext cx="3794760" cy="402336"/>
          </a:xfrm>
          <a:prstGeom prst="rect">
            <a:avLst/>
          </a:prstGeom>
          <a:solidFill>
            <a:srgbClr val="12154A"/>
          </a:solidFill>
          <a:ln w="6350">
            <a:solidFill>
              <a:srgbClr val="2A2D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2532888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9CFB8"/>
                </a:solidFill>
              </a:rPr>
              <a:t>3행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51560" y="253288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E0"/>
                </a:solidFill>
              </a:rPr>
              <a:t>[기사 제목]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2935224"/>
            <a:ext cx="3794760" cy="402336"/>
          </a:xfrm>
          <a:prstGeom prst="rect">
            <a:avLst/>
          </a:prstGeom>
          <a:solidFill>
            <a:srgbClr val="141466"/>
          </a:solidFill>
          <a:ln w="6350">
            <a:solidFill>
              <a:srgbClr val="2A2D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3008376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9CFB8"/>
                </a:solidFill>
              </a:rPr>
              <a:t>4행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51560" y="300837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E0"/>
                </a:solidFill>
              </a:rPr>
              <a:t>[📊 투표 수 배지] [태그들]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57200" y="34930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</a:rPr>
              <a:t>이상 징후 탐지 트리거 4종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3803904"/>
            <a:ext cx="3794760" cy="237744"/>
          </a:xfrm>
          <a:prstGeom prst="rect">
            <a:avLst/>
          </a:prstGeom>
          <a:solidFill>
            <a:srgbClr val="1A1400"/>
          </a:solidFill>
          <a:ln w="6350">
            <a:solidFill>
              <a:srgbClr val="3A3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" y="3831336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97706"/>
                </a:solidFill>
              </a:rPr>
              <a:t>T-1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87552" y="3831336"/>
            <a:ext cx="3154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B8E0"/>
                </a:solidFill>
              </a:rPr>
              <a:t>1위 득표율 ≥ 60%  독주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57200" y="4096512"/>
            <a:ext cx="3794760" cy="237744"/>
          </a:xfrm>
          <a:prstGeom prst="rect">
            <a:avLst/>
          </a:prstGeom>
          <a:solidFill>
            <a:srgbClr val="1A1400"/>
          </a:solidFill>
          <a:ln w="6350">
            <a:solidFill>
              <a:srgbClr val="3A30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4123944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97706"/>
                </a:solidFill>
              </a:rPr>
              <a:t>T-2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987552" y="4123944"/>
            <a:ext cx="3154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B8E0"/>
                </a:solidFill>
              </a:rPr>
              <a:t>1위-2위 격차 ≥ 30%p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57200" y="4389120"/>
            <a:ext cx="3794760" cy="237744"/>
          </a:xfrm>
          <a:prstGeom prst="rect">
            <a:avLst/>
          </a:prstGeom>
          <a:solidFill>
            <a:srgbClr val="1A1400"/>
          </a:solidFill>
          <a:ln w="6350">
            <a:solidFill>
              <a:srgbClr val="3A30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6928" y="4416552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97706"/>
                </a:solidFill>
              </a:rPr>
              <a:t>T-3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987552" y="4416552"/>
            <a:ext cx="3154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B8E0"/>
                </a:solidFill>
              </a:rPr>
              <a:t>24h 투표 증가율 ≥ 200%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57200" y="4681728"/>
            <a:ext cx="3794760" cy="237744"/>
          </a:xfrm>
          <a:prstGeom prst="rect">
            <a:avLst/>
          </a:prstGeom>
          <a:solidFill>
            <a:srgbClr val="1A1400"/>
          </a:solidFill>
          <a:ln w="6350">
            <a:solidFill>
              <a:srgbClr val="3A30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4709160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97706"/>
                </a:solidFill>
              </a:rPr>
              <a:t>T-4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987552" y="4709160"/>
            <a:ext cx="3154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B8E0"/>
                </a:solidFill>
              </a:rPr>
              <a:t>3위 이내 순위 역전 발생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709160" y="1078992"/>
            <a:ext cx="4114800" cy="3794760"/>
          </a:xfrm>
          <a:prstGeom prst="rect">
            <a:avLst/>
          </a:prstGeom>
          <a:solidFill>
            <a:srgbClr val="1E1E7A"/>
          </a:solidFill>
          <a:ln w="12700">
            <a:solidFill>
              <a:srgbClr val="2A2D6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46320" y="11704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D700"/>
                </a:solidFill>
              </a:rPr>
              <a:t>데이터 시각화 컴포넌트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846320" y="1508760"/>
            <a:ext cx="3794760" cy="457200"/>
          </a:xfrm>
          <a:prstGeom prst="rect">
            <a:avLst/>
          </a:prstGeom>
          <a:solidFill>
            <a:srgbClr val="12154A"/>
          </a:solidFill>
          <a:ln w="6350">
            <a:solidFill>
              <a:srgbClr val="2A2D6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19472" y="160020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📊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5303520" y="1545336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5F7"/>
                </a:solidFill>
              </a:rPr>
              <a:t>투표 현황 요약 카드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303520" y="175564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A99"/>
                </a:solidFill>
              </a:rPr>
              <a:t>totalVotes · countryCount · Top5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846320" y="2048256"/>
            <a:ext cx="3794760" cy="457200"/>
          </a:xfrm>
          <a:prstGeom prst="rect">
            <a:avLst/>
          </a:prstGeom>
          <a:solidFill>
            <a:srgbClr val="141466"/>
          </a:solidFill>
          <a:ln w="6350">
            <a:solidFill>
              <a:srgbClr val="2A2D6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19472" y="2139696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📈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5303520" y="208483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5F7"/>
                </a:solidFill>
              </a:rPr>
              <a:t>Top5 득표율 바 차트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303520" y="2295144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A99"/>
                </a:solidFill>
              </a:rPr>
              <a:t>voteData.top5[]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4846320" y="2587752"/>
            <a:ext cx="3794760" cy="457200"/>
          </a:xfrm>
          <a:prstGeom prst="rect">
            <a:avLst/>
          </a:prstGeom>
          <a:solidFill>
            <a:srgbClr val="12154A"/>
          </a:solidFill>
          <a:ln w="6350">
            <a:solidFill>
              <a:srgbClr val="2A2D6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919472" y="267919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🗺️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5303520" y="262432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5F7"/>
                </a:solidFill>
              </a:rPr>
              <a:t>지역별 참여 히트맵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303520" y="283464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A99"/>
                </a:solidFill>
              </a:rPr>
              <a:t>국가별 세계지도 시각화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4846320" y="3127248"/>
            <a:ext cx="3794760" cy="457200"/>
          </a:xfrm>
          <a:prstGeom prst="rect">
            <a:avLst/>
          </a:prstGeom>
          <a:solidFill>
            <a:srgbClr val="141466"/>
          </a:solidFill>
          <a:ln w="6350">
            <a:solidFill>
              <a:srgbClr val="2A2D6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919472" y="321868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📉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5303520" y="316382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5F7"/>
                </a:solidFill>
              </a:rPr>
              <a:t>투표 추이 라인 차트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5303520" y="337413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A99"/>
                </a:solidFill>
              </a:rPr>
              <a:t>vote_history 컬렉션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4846320" y="3666744"/>
            <a:ext cx="3794760" cy="457200"/>
          </a:xfrm>
          <a:prstGeom prst="rect">
            <a:avLst/>
          </a:prstGeom>
          <a:solidFill>
            <a:srgbClr val="12154A"/>
          </a:solidFill>
          <a:ln w="6350">
            <a:solidFill>
              <a:srgbClr val="2A2D6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919472" y="3758184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✦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5303520" y="370332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5F7"/>
                </a:solidFill>
              </a:rPr>
              <a:t>AI-Report 표기 블록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5303520" y="391363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A99"/>
                </a:solidFill>
              </a:rPr>
              <a:t>본문 하단 골드 블록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4846320" y="4206240"/>
            <a:ext cx="3794760" cy="457200"/>
          </a:xfrm>
          <a:prstGeom prst="rect">
            <a:avLst/>
          </a:prstGeom>
          <a:solidFill>
            <a:srgbClr val="141466"/>
          </a:solidFill>
          <a:ln w="6350">
            <a:solidFill>
              <a:srgbClr val="2A2D6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919472" y="429768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👑</a:t>
            </a:r>
            <a:endParaRPr lang="en-US" sz="1400" dirty="0"/>
          </a:p>
        </p:txBody>
      </p:sp>
      <p:sp>
        <p:nvSpPr>
          <p:cNvPr id="61" name="Text 59"/>
          <p:cNvSpPr/>
          <p:nvPr/>
        </p:nvSpPr>
        <p:spPr>
          <a:xfrm>
            <a:off x="5303520" y="4242816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5F7"/>
                </a:solidFill>
              </a:rPr>
              <a:t>Crown Card 미리보기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5303520" y="445312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A99"/>
                </a:solidFill>
              </a:rPr>
              <a:t>Tournament Champion 연결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0" y="4956048"/>
            <a:ext cx="9144000" cy="73152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0C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41466"/>
          </a:solidFill>
          <a:ln w="12700">
            <a:solidFill>
              <a:srgbClr val="1414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640080" cy="566928"/>
          </a:xfrm>
          <a:prstGeom prst="rect">
            <a:avLst/>
          </a:prstGeom>
          <a:solidFill>
            <a:srgbClr val="1E205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700"/>
                </a:solidFill>
              </a:rPr>
              <a:t>07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51560" y="155448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MVP 로드맵 &amp; 타임라인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51560" y="65836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</a:rPr>
              <a:t>Roadmap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2514600"/>
            <a:ext cx="8229600" cy="73152"/>
          </a:xfrm>
          <a:prstGeom prst="rect">
            <a:avLst/>
          </a:prstGeom>
          <a:solidFill>
            <a:srgbClr val="2A2D6B"/>
          </a:solidFill>
          <a:ln w="12700">
            <a:solidFill>
              <a:srgbClr val="2A2D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71600" y="1078992"/>
            <a:ext cx="45720" cy="141732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07008" y="2423160"/>
            <a:ext cx="384048" cy="384048"/>
          </a:xfrm>
          <a:prstGeom prst="ellipse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078992"/>
            <a:ext cx="2011680" cy="1325880"/>
          </a:xfrm>
          <a:prstGeom prst="rect">
            <a:avLst/>
          </a:prstGeom>
          <a:solidFill>
            <a:srgbClr val="1E1E7A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078992"/>
            <a:ext cx="201168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1152144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</a:rPr>
              <a:t>MVP 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147218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E0"/>
                </a:solidFill>
              </a:rPr>
              <a:t>🗓 5월 31일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48640" y="16916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B8E0"/>
                </a:solidFill>
              </a:rPr>
              <a:t>· Domain 0~3 + 5~6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48640" y="186537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B8E0"/>
                </a:solidFill>
              </a:rPr>
              <a:t>· 투표 엔진 구현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48640" y="203911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B8E0"/>
                </a:solidFill>
              </a:rPr>
              <a:t>· Crown Card 생성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48640" y="221284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B8E0"/>
                </a:solidFill>
              </a:rPr>
              <a:t>· ko + en 지원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57200" y="2926080"/>
            <a:ext cx="2011680" cy="1920240"/>
          </a:xfrm>
          <a:prstGeom prst="rect">
            <a:avLst/>
          </a:prstGeom>
          <a:solidFill>
            <a:srgbClr val="12154A"/>
          </a:solidFill>
          <a:ln w="6350">
            <a:solidFill>
              <a:srgbClr val="2A2D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0175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700"/>
                </a:solidFill>
              </a:rPr>
              <a:t>사용자 확보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3337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8E0"/>
                </a:solidFill>
              </a:rPr>
              <a:t>웨이트리스트 500명+ 목표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493008" y="1078992"/>
            <a:ext cx="45720" cy="1417320"/>
          </a:xfrm>
          <a:prstGeom prst="rect">
            <a:avLst/>
          </a:prstGeom>
          <a:solidFill>
            <a:srgbClr val="39CFB8"/>
          </a:solidFill>
          <a:ln w="12700">
            <a:solidFill>
              <a:srgbClr val="39CFB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328416" y="2423160"/>
            <a:ext cx="384048" cy="384048"/>
          </a:xfrm>
          <a:prstGeom prst="ellipse">
            <a:avLst/>
          </a:prstGeom>
          <a:solidFill>
            <a:srgbClr val="39CFB8"/>
          </a:solidFill>
          <a:ln w="12700">
            <a:solidFill>
              <a:srgbClr val="39CFB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78608" y="1078992"/>
            <a:ext cx="2011680" cy="1325880"/>
          </a:xfrm>
          <a:prstGeom prst="rect">
            <a:avLst/>
          </a:prstGeom>
          <a:solidFill>
            <a:srgbClr val="1E1E7A"/>
          </a:solidFill>
          <a:ln w="12700">
            <a:solidFill>
              <a:srgbClr val="39CFB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78608" y="1078992"/>
            <a:ext cx="2011680" cy="54864"/>
          </a:xfrm>
          <a:prstGeom prst="rect">
            <a:avLst/>
          </a:prstGeom>
          <a:solidFill>
            <a:srgbClr val="39CFB8"/>
          </a:solidFill>
          <a:ln w="12700">
            <a:solidFill>
              <a:srgbClr val="39CFB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670048" y="1152144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9CFB8"/>
                </a:solidFill>
              </a:rPr>
              <a:t>MVP 1.5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2670048" y="147218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E0"/>
                </a:solidFill>
              </a:rPr>
              <a:t>🗓 6월 10일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670048" y="16916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B8E0"/>
                </a:solidFill>
              </a:rPr>
              <a:t>· Fan Intelligence 수동 생성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2670048" y="186537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B8E0"/>
                </a:solidFill>
              </a:rPr>
              <a:t>· Operation Launch News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2670048" y="203911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B8E0"/>
                </a:solidFill>
              </a:rPr>
              <a:t>· 런치 뉴스 배포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2670048" y="221284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9CFB8"/>
                </a:solidFill>
              </a:rPr>
              <a:t>▸ SNS 집중 홍보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578608" y="2926080"/>
            <a:ext cx="2011680" cy="1920240"/>
          </a:xfrm>
          <a:prstGeom prst="rect">
            <a:avLst/>
          </a:prstGeom>
          <a:solidFill>
            <a:srgbClr val="12154A"/>
          </a:solidFill>
          <a:ln w="6350">
            <a:solidFill>
              <a:srgbClr val="2A2D6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670048" y="30175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CFB8"/>
                </a:solidFill>
              </a:rPr>
              <a:t>런치 뉴스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670048" y="3337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8E0"/>
                </a:solidFill>
              </a:rPr>
              <a:t>월드컵 개막 전 배포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670048" y="3703320"/>
            <a:ext cx="1828800" cy="822960"/>
          </a:xfrm>
          <a:prstGeom prst="rect">
            <a:avLst/>
          </a:prstGeom>
          <a:solidFill>
            <a:srgbClr val="0A2010"/>
          </a:solidFill>
          <a:ln w="6350">
            <a:solidFill>
              <a:srgbClr val="39CFB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670048" y="3730752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39CFB8"/>
                </a:solidFill>
              </a:rPr>
              <a:t>⚽ 6월 11일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39CFB8"/>
                </a:solidFill>
              </a:rPr>
              <a:t>월드컵 개막!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614416" y="1078992"/>
            <a:ext cx="45720" cy="1417320"/>
          </a:xfrm>
          <a:prstGeom prst="rect">
            <a:avLst/>
          </a:prstGeom>
          <a:solidFill>
            <a:srgbClr val="CF2E45"/>
          </a:solidFill>
          <a:ln w="12700">
            <a:solidFill>
              <a:srgbClr val="CF2E4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449824" y="2423160"/>
            <a:ext cx="384048" cy="384048"/>
          </a:xfrm>
          <a:prstGeom prst="ellipse">
            <a:avLst/>
          </a:prstGeom>
          <a:solidFill>
            <a:srgbClr val="CF2E45"/>
          </a:solidFill>
          <a:ln w="12700">
            <a:solidFill>
              <a:srgbClr val="CF2E4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700016" y="1078992"/>
            <a:ext cx="2011680" cy="1325880"/>
          </a:xfrm>
          <a:prstGeom prst="rect">
            <a:avLst/>
          </a:prstGeom>
          <a:solidFill>
            <a:srgbClr val="1E1E7A"/>
          </a:solidFill>
          <a:ln w="12700">
            <a:solidFill>
              <a:srgbClr val="CF2E4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700016" y="1078992"/>
            <a:ext cx="2011680" cy="54864"/>
          </a:xfrm>
          <a:prstGeom prst="rect">
            <a:avLst/>
          </a:prstGeom>
          <a:solidFill>
            <a:srgbClr val="CF2E45"/>
          </a:solidFill>
          <a:ln w="12700">
            <a:solidFill>
              <a:srgbClr val="CF2E4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91456" y="1152144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F2E45"/>
                </a:solidFill>
              </a:rPr>
              <a:t>MVP 2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4791456" y="147218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E0"/>
                </a:solidFill>
              </a:rPr>
              <a:t>🗓 7월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791456" y="16916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B8E0"/>
                </a:solidFill>
              </a:rPr>
              <a:t>· AI 뉴스 팩토리 자동화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791456" y="186537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B8E0"/>
                </a:solidFill>
              </a:rPr>
              <a:t>· 특이점 탐지 4종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4791456" y="203911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B8E0"/>
                </a:solidFill>
              </a:rPr>
              <a:t>· 스페인어 추가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791456" y="221284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B8E0"/>
                </a:solidFill>
              </a:rPr>
              <a:t>· D4 Locker Room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700016" y="2926080"/>
            <a:ext cx="2011680" cy="1920240"/>
          </a:xfrm>
          <a:prstGeom prst="rect">
            <a:avLst/>
          </a:prstGeom>
          <a:solidFill>
            <a:srgbClr val="12154A"/>
          </a:solidFill>
          <a:ln w="6350">
            <a:solidFill>
              <a:srgbClr val="2A2D6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91456" y="30175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F2E45"/>
                </a:solidFill>
              </a:rPr>
              <a:t>자동화 + 스페인어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791456" y="3337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8E0"/>
                </a:solidFill>
              </a:rPr>
              <a:t>남미 8억 팬 공략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7735824" y="1078992"/>
            <a:ext cx="45720" cy="14173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571232" y="2423160"/>
            <a:ext cx="384048" cy="38404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821424" y="1078992"/>
            <a:ext cx="2011680" cy="1325880"/>
          </a:xfrm>
          <a:prstGeom prst="rect">
            <a:avLst/>
          </a:prstGeom>
          <a:solidFill>
            <a:srgbClr val="1E1E7A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821424" y="1078992"/>
            <a:ext cx="201168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912864" y="1152144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</a:rPr>
              <a:t>MVP 3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6912864" y="147218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E0"/>
                </a:solidFill>
              </a:rPr>
              <a:t>🗓 하반기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6912864" y="16916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B8E0"/>
                </a:solidFill>
              </a:rPr>
              <a:t>· PR 자동 배포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6912864" y="186537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B8E0"/>
                </a:solidFill>
              </a:rPr>
              <a:t>· B2B SaaS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6912864" y="203911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B8E0"/>
                </a:solidFill>
              </a:rPr>
              <a:t>· 다국어 확장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6912864" y="221284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B8E0"/>
                </a:solidFill>
              </a:rPr>
              <a:t>· 수익 모델 본격화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6821424" y="2926080"/>
            <a:ext cx="2011680" cy="1920240"/>
          </a:xfrm>
          <a:prstGeom prst="rect">
            <a:avLst/>
          </a:prstGeom>
          <a:solidFill>
            <a:srgbClr val="12154A"/>
          </a:solidFill>
          <a:ln w="6350">
            <a:solidFill>
              <a:srgbClr val="2A2D6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912864" y="30175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</a:rPr>
              <a:t>수익화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6912864" y="3337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8E0"/>
                </a:solidFill>
              </a:rPr>
              <a:t>B2B SaaS 본격화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0" y="4956048"/>
            <a:ext cx="9144000" cy="73152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0C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41466"/>
          </a:solidFill>
          <a:ln w="12700">
            <a:solidFill>
              <a:srgbClr val="1414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640080" cy="566928"/>
          </a:xfrm>
          <a:prstGeom prst="rect">
            <a:avLst/>
          </a:prstGeom>
          <a:solidFill>
            <a:srgbClr val="1E205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700"/>
                </a:solidFill>
              </a:rPr>
              <a:t>08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51560" y="155448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기술 스택 &amp; 수익 모델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51560" y="65836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</a:rPr>
              <a:t>Tech Stack &amp; Revenue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1078992"/>
            <a:ext cx="4114800" cy="3794760"/>
          </a:xfrm>
          <a:prstGeom prst="rect">
            <a:avLst/>
          </a:prstGeom>
          <a:solidFill>
            <a:srgbClr val="1E1E7A"/>
          </a:solidFill>
          <a:ln w="12700">
            <a:solidFill>
              <a:srgbClr val="2A2D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7043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D700"/>
                </a:solidFill>
              </a:rPr>
              <a:t>⚙️  기술 스택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1536192"/>
            <a:ext cx="3794760" cy="420624"/>
          </a:xfrm>
          <a:prstGeom prst="rect">
            <a:avLst/>
          </a:prstGeom>
          <a:solidFill>
            <a:srgbClr val="12154A"/>
          </a:solidFill>
          <a:ln w="6350">
            <a:solidFill>
              <a:srgbClr val="2A2D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60934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D700"/>
                </a:solidFill>
              </a:rPr>
              <a:t>Frontend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91640" y="1609344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E0"/>
                </a:solidFill>
              </a:rPr>
              <a:t>Next.js 14 + TypeScript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2039112"/>
            <a:ext cx="3794760" cy="420624"/>
          </a:xfrm>
          <a:prstGeom prst="rect">
            <a:avLst/>
          </a:prstGeom>
          <a:solidFill>
            <a:srgbClr val="141466"/>
          </a:solidFill>
          <a:ln w="6350">
            <a:solidFill>
              <a:srgbClr val="2A2D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11226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D700"/>
                </a:solidFill>
              </a:rPr>
              <a:t>UI/UX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91640" y="2112264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E0"/>
                </a:solidFill>
              </a:rPr>
              <a:t>Tailwind CSS + Shadcn/UI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2542032"/>
            <a:ext cx="3794760" cy="420624"/>
          </a:xfrm>
          <a:prstGeom prst="rect">
            <a:avLst/>
          </a:prstGeom>
          <a:solidFill>
            <a:srgbClr val="12154A"/>
          </a:solidFill>
          <a:ln w="6350">
            <a:solidFill>
              <a:srgbClr val="2A2D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61518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D700"/>
                </a:solidFill>
              </a:rPr>
              <a:t>Backend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91640" y="2615184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E0"/>
                </a:solidFill>
              </a:rPr>
              <a:t>Firebase (Firestore + Auth)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3044952"/>
            <a:ext cx="3794760" cy="420624"/>
          </a:xfrm>
          <a:prstGeom prst="rect">
            <a:avLst/>
          </a:prstGeom>
          <a:solidFill>
            <a:srgbClr val="141466"/>
          </a:solidFill>
          <a:ln w="6350">
            <a:solidFill>
              <a:srgbClr val="2A2D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311810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D700"/>
                </a:solidFill>
              </a:rPr>
              <a:t>AI Engine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691640" y="3118104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E0"/>
                </a:solidFill>
              </a:rPr>
              <a:t>Claude API (Sonnet-4)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3547872"/>
            <a:ext cx="3794760" cy="420624"/>
          </a:xfrm>
          <a:prstGeom prst="rect">
            <a:avLst/>
          </a:prstGeom>
          <a:solidFill>
            <a:srgbClr val="12154A"/>
          </a:solidFill>
          <a:ln w="6350">
            <a:solidFill>
              <a:srgbClr val="2A2D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62102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D700"/>
                </a:solidFill>
              </a:rPr>
              <a:t>Hosting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691640" y="3621024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E0"/>
                </a:solidFill>
              </a:rPr>
              <a:t>Vercel + Firebase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" y="4050792"/>
            <a:ext cx="3794760" cy="420624"/>
          </a:xfrm>
          <a:prstGeom prst="rect">
            <a:avLst/>
          </a:prstGeom>
          <a:solidFill>
            <a:srgbClr val="141466"/>
          </a:solidFill>
          <a:ln w="6350">
            <a:solidFill>
              <a:srgbClr val="2A2D6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412394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D700"/>
                </a:solidFill>
              </a:rPr>
              <a:t>CDN/보안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691640" y="4123944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E0"/>
                </a:solidFill>
              </a:rPr>
              <a:t>Cloudflare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709160" y="1078992"/>
            <a:ext cx="4114800" cy="3794760"/>
          </a:xfrm>
          <a:prstGeom prst="rect">
            <a:avLst/>
          </a:prstGeom>
          <a:solidFill>
            <a:srgbClr val="1E1E7A"/>
          </a:solidFill>
          <a:ln w="12700">
            <a:solidFill>
              <a:srgbClr val="2A2D6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117043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D700"/>
                </a:solidFill>
              </a:rPr>
              <a:t>💰  수익 모델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846320" y="1536192"/>
            <a:ext cx="3794760" cy="457200"/>
          </a:xfrm>
          <a:prstGeom prst="rect">
            <a:avLst/>
          </a:prstGeom>
          <a:solidFill>
            <a:srgbClr val="12154A"/>
          </a:solidFill>
          <a:ln w="6350">
            <a:solidFill>
              <a:srgbClr val="2A2D6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46320" y="1536192"/>
            <a:ext cx="54864" cy="45720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937760" y="1591056"/>
            <a:ext cx="640080" cy="182880"/>
          </a:xfrm>
          <a:prstGeom prst="rect">
            <a:avLst/>
          </a:prstGeom>
          <a:solidFill>
            <a:srgbClr val="1A2040"/>
          </a:solidFill>
          <a:ln w="6350">
            <a:solidFill>
              <a:srgbClr val="2A2D6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37760" y="1591056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D700"/>
                </a:solidFill>
              </a:rPr>
              <a:t>MVP 2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5669280" y="158191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F5F7"/>
                </a:solidFill>
              </a:rPr>
              <a:t>Crown Card 프리미엄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669280" y="178308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D700"/>
                </a:solidFill>
              </a:rPr>
              <a:t>$1.99~4.99/건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846320" y="2084832"/>
            <a:ext cx="3794760" cy="457200"/>
          </a:xfrm>
          <a:prstGeom prst="rect">
            <a:avLst/>
          </a:prstGeom>
          <a:solidFill>
            <a:srgbClr val="141466"/>
          </a:solidFill>
          <a:ln w="6350">
            <a:solidFill>
              <a:srgbClr val="2A2D6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46320" y="2084832"/>
            <a:ext cx="54864" cy="45720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937760" y="2139696"/>
            <a:ext cx="640080" cy="182880"/>
          </a:xfrm>
          <a:prstGeom prst="rect">
            <a:avLst/>
          </a:prstGeom>
          <a:solidFill>
            <a:srgbClr val="1A2040"/>
          </a:solidFill>
          <a:ln w="6350">
            <a:solidFill>
              <a:srgbClr val="2A2D6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37760" y="2139696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D700"/>
                </a:solidFill>
              </a:rPr>
              <a:t>MVP 2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5669280" y="213055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F5F7"/>
                </a:solidFill>
              </a:rPr>
              <a:t>Fan Intelligence 구독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669280" y="233172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D700"/>
                </a:solidFill>
              </a:rPr>
              <a:t>$29~99/월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846320" y="2633472"/>
            <a:ext cx="3794760" cy="457200"/>
          </a:xfrm>
          <a:prstGeom prst="rect">
            <a:avLst/>
          </a:prstGeom>
          <a:solidFill>
            <a:srgbClr val="12154A"/>
          </a:solidFill>
          <a:ln w="6350">
            <a:solidFill>
              <a:srgbClr val="2A2D6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846320" y="2633472"/>
            <a:ext cx="54864" cy="45720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937760" y="2688336"/>
            <a:ext cx="640080" cy="182880"/>
          </a:xfrm>
          <a:prstGeom prst="rect">
            <a:avLst/>
          </a:prstGeom>
          <a:solidFill>
            <a:srgbClr val="1A2040"/>
          </a:solidFill>
          <a:ln w="6350">
            <a:solidFill>
              <a:srgbClr val="2A2D6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37760" y="2688336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D700"/>
                </a:solidFill>
              </a:rPr>
              <a:t>MVP 2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5669280" y="267919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F5F7"/>
                </a:solidFill>
              </a:rPr>
              <a:t>Tournament 호스팅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5669280" y="288036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D700"/>
                </a:solidFill>
              </a:rPr>
              <a:t>$9.99~49/건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846320" y="3182112"/>
            <a:ext cx="3794760" cy="457200"/>
          </a:xfrm>
          <a:prstGeom prst="rect">
            <a:avLst/>
          </a:prstGeom>
          <a:solidFill>
            <a:srgbClr val="141466"/>
          </a:solidFill>
          <a:ln w="6350">
            <a:solidFill>
              <a:srgbClr val="2A2D6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846320" y="3182112"/>
            <a:ext cx="54864" cy="457200"/>
          </a:xfrm>
          <a:prstGeom prst="rect">
            <a:avLst/>
          </a:prstGeom>
          <a:solidFill>
            <a:srgbClr val="39CFB8"/>
          </a:solidFill>
          <a:ln w="12700">
            <a:solidFill>
              <a:srgbClr val="39CFB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937760" y="3236976"/>
            <a:ext cx="640080" cy="182880"/>
          </a:xfrm>
          <a:prstGeom prst="rect">
            <a:avLst/>
          </a:prstGeom>
          <a:solidFill>
            <a:srgbClr val="1A2040"/>
          </a:solidFill>
          <a:ln w="6350">
            <a:solidFill>
              <a:srgbClr val="2A2D6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37760" y="3236976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9CFB8"/>
                </a:solidFill>
              </a:rPr>
              <a:t>MVP 3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5669280" y="322783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F5F7"/>
                </a:solidFill>
              </a:rPr>
              <a:t>B2B SaaS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5669280" y="342900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9CFB8"/>
                </a:solidFill>
              </a:rPr>
              <a:t>$500~5,000/월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846320" y="3730752"/>
            <a:ext cx="3794760" cy="457200"/>
          </a:xfrm>
          <a:prstGeom prst="rect">
            <a:avLst/>
          </a:prstGeom>
          <a:solidFill>
            <a:srgbClr val="12154A"/>
          </a:solidFill>
          <a:ln w="6350">
            <a:solidFill>
              <a:srgbClr val="2A2D6B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846320" y="3730752"/>
            <a:ext cx="54864" cy="457200"/>
          </a:xfrm>
          <a:prstGeom prst="rect">
            <a:avLst/>
          </a:prstGeom>
          <a:solidFill>
            <a:srgbClr val="39CFB8"/>
          </a:solidFill>
          <a:ln w="12700">
            <a:solidFill>
              <a:srgbClr val="39CFB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937760" y="3785616"/>
            <a:ext cx="640080" cy="182880"/>
          </a:xfrm>
          <a:prstGeom prst="rect">
            <a:avLst/>
          </a:prstGeom>
          <a:solidFill>
            <a:srgbClr val="1A2040"/>
          </a:solidFill>
          <a:ln w="6350">
            <a:solidFill>
              <a:srgbClr val="2A2D6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937760" y="3785616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9CFB8"/>
                </a:solidFill>
              </a:rPr>
              <a:t>MVP 3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5669280" y="377647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F5F7"/>
                </a:solidFill>
              </a:rPr>
              <a:t>PR 자동 배포 서비스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5669280" y="397764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9CFB8"/>
                </a:solidFill>
              </a:rPr>
              <a:t>요금제 예정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846320" y="4297680"/>
            <a:ext cx="3794760" cy="384048"/>
          </a:xfrm>
          <a:prstGeom prst="rect">
            <a:avLst/>
          </a:prstGeom>
          <a:solidFill>
            <a:srgbClr val="0A1A00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983480" y="4334256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59669"/>
                </a:solidFill>
              </a:rPr>
              <a:t>💡 런치 초기 운영비: 약 $50~100/월 (Vercel+Firebase+Cloudflare)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0" y="4956048"/>
            <a:ext cx="9144000" cy="73152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60C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41466"/>
          </a:solidFill>
          <a:ln w="12700">
            <a:solidFill>
              <a:srgbClr val="1414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640080" cy="566928"/>
          </a:xfrm>
          <a:prstGeom prst="rect">
            <a:avLst/>
          </a:prstGeom>
          <a:solidFill>
            <a:srgbClr val="1E205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700"/>
                </a:solidFill>
              </a:rPr>
              <a:t>09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51560" y="155448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KPI &amp; 리스크 관리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51560" y="65836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</a:rPr>
              <a:t>Performance &amp; Risk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107899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700"/>
                </a:solidFill>
              </a:rPr>
              <a:t>📊 KPI 목표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417320"/>
            <a:ext cx="2011680" cy="310896"/>
          </a:xfrm>
          <a:prstGeom prst="rect">
            <a:avLst/>
          </a:prstGeom>
          <a:solidFill>
            <a:srgbClr val="141466"/>
          </a:solidFill>
          <a:ln w="6350">
            <a:solidFill>
              <a:srgbClr val="2A2D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3192" y="1472184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D700"/>
                </a:solidFill>
              </a:rPr>
              <a:t>지표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331720" y="1417320"/>
            <a:ext cx="1051560" cy="310896"/>
          </a:xfrm>
          <a:prstGeom prst="rect">
            <a:avLst/>
          </a:prstGeom>
          <a:solidFill>
            <a:srgbClr val="141466"/>
          </a:solidFill>
          <a:ln w="6350">
            <a:solidFill>
              <a:srgbClr val="2A2D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04872" y="1472184"/>
            <a:ext cx="905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D700"/>
                </a:solidFill>
              </a:rPr>
              <a:t>MVP 1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446520" y="1417320"/>
            <a:ext cx="1051560" cy="310896"/>
          </a:xfrm>
          <a:prstGeom prst="rect">
            <a:avLst/>
          </a:prstGeom>
          <a:solidFill>
            <a:srgbClr val="141466"/>
          </a:solidFill>
          <a:ln w="6350">
            <a:solidFill>
              <a:srgbClr val="2A2D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19672" y="1472184"/>
            <a:ext cx="905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D700"/>
                </a:solidFill>
              </a:rPr>
              <a:t>MVP 2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0040" y="1764792"/>
            <a:ext cx="2011680" cy="310896"/>
          </a:xfrm>
          <a:prstGeom prst="rect">
            <a:avLst/>
          </a:prstGeom>
          <a:solidFill>
            <a:srgbClr val="12154A"/>
          </a:solidFill>
          <a:ln w="6350">
            <a:solidFill>
              <a:srgbClr val="2A2D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3192" y="1819656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E0"/>
                </a:solidFill>
              </a:rPr>
              <a:t>웨이트리스트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331720" y="1764792"/>
            <a:ext cx="1051560" cy="310896"/>
          </a:xfrm>
          <a:prstGeom prst="rect">
            <a:avLst/>
          </a:prstGeom>
          <a:solidFill>
            <a:srgbClr val="12154A"/>
          </a:solidFill>
          <a:ln w="6350">
            <a:solidFill>
              <a:srgbClr val="2A2D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04872" y="1819656"/>
            <a:ext cx="905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5F7"/>
                </a:solidFill>
              </a:rPr>
              <a:t>500명+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446520" y="1764792"/>
            <a:ext cx="1051560" cy="310896"/>
          </a:xfrm>
          <a:prstGeom prst="rect">
            <a:avLst/>
          </a:prstGeom>
          <a:solidFill>
            <a:srgbClr val="12154A"/>
          </a:solidFill>
          <a:ln w="6350">
            <a:solidFill>
              <a:srgbClr val="2A2D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19672" y="1819656"/>
            <a:ext cx="905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9CFB8"/>
                </a:solidFill>
              </a:rPr>
              <a:t>2,000명+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" y="2112264"/>
            <a:ext cx="2011680" cy="310896"/>
          </a:xfrm>
          <a:prstGeom prst="rect">
            <a:avLst/>
          </a:prstGeom>
          <a:solidFill>
            <a:srgbClr val="1E1E7A"/>
          </a:solidFill>
          <a:ln w="6350">
            <a:solidFill>
              <a:srgbClr val="2A2D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3192" y="2167128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E0"/>
                </a:solidFill>
              </a:rPr>
              <a:t>투표 수 (런치 전)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331720" y="2112264"/>
            <a:ext cx="1051560" cy="310896"/>
          </a:xfrm>
          <a:prstGeom prst="rect">
            <a:avLst/>
          </a:prstGeom>
          <a:solidFill>
            <a:srgbClr val="1E1E7A"/>
          </a:solidFill>
          <a:ln w="6350">
            <a:solidFill>
              <a:srgbClr val="2A2D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404872" y="2167128"/>
            <a:ext cx="905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5F7"/>
                </a:solidFill>
              </a:rPr>
              <a:t>1,000표+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446520" y="2112264"/>
            <a:ext cx="1051560" cy="310896"/>
          </a:xfrm>
          <a:prstGeom prst="rect">
            <a:avLst/>
          </a:prstGeom>
          <a:solidFill>
            <a:srgbClr val="1E1E7A"/>
          </a:solidFill>
          <a:ln w="6350">
            <a:solidFill>
              <a:srgbClr val="2A2D6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19672" y="2167128"/>
            <a:ext cx="905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9CFB8"/>
                </a:solidFill>
              </a:rPr>
              <a:t>—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0040" y="2459736"/>
            <a:ext cx="2011680" cy="310896"/>
          </a:xfrm>
          <a:prstGeom prst="rect">
            <a:avLst/>
          </a:prstGeom>
          <a:solidFill>
            <a:srgbClr val="12154A"/>
          </a:solidFill>
          <a:ln w="6350">
            <a:solidFill>
              <a:srgbClr val="2A2D6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93192" y="2514600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E0"/>
                </a:solidFill>
              </a:rPr>
              <a:t>Fan Intelligence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331720" y="2459736"/>
            <a:ext cx="1051560" cy="310896"/>
          </a:xfrm>
          <a:prstGeom prst="rect">
            <a:avLst/>
          </a:prstGeom>
          <a:solidFill>
            <a:srgbClr val="12154A"/>
          </a:solidFill>
          <a:ln w="6350">
            <a:solidFill>
              <a:srgbClr val="2A2D6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404872" y="2514600"/>
            <a:ext cx="905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5F7"/>
                </a:solidFill>
              </a:rPr>
              <a:t>1건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446520" y="2459736"/>
            <a:ext cx="1051560" cy="310896"/>
          </a:xfrm>
          <a:prstGeom prst="rect">
            <a:avLst/>
          </a:prstGeom>
          <a:solidFill>
            <a:srgbClr val="12154A"/>
          </a:solidFill>
          <a:ln w="6350">
            <a:solidFill>
              <a:srgbClr val="2A2D6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9672" y="2514600"/>
            <a:ext cx="905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9CFB8"/>
                </a:solidFill>
              </a:rPr>
              <a:t>자동 5건+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20040" y="2807208"/>
            <a:ext cx="2011680" cy="310896"/>
          </a:xfrm>
          <a:prstGeom prst="rect">
            <a:avLst/>
          </a:prstGeom>
          <a:solidFill>
            <a:srgbClr val="1E1E7A"/>
          </a:solidFill>
          <a:ln w="6350">
            <a:solidFill>
              <a:srgbClr val="2A2D6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93192" y="2862072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E0"/>
                </a:solidFill>
              </a:rPr>
              <a:t>Crown Card 공유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331720" y="2807208"/>
            <a:ext cx="1051560" cy="310896"/>
          </a:xfrm>
          <a:prstGeom prst="rect">
            <a:avLst/>
          </a:prstGeom>
          <a:solidFill>
            <a:srgbClr val="1E1E7A"/>
          </a:solidFill>
          <a:ln w="6350">
            <a:solidFill>
              <a:srgbClr val="2A2D6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404872" y="2862072"/>
            <a:ext cx="905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5F7"/>
                </a:solidFill>
              </a:rPr>
              <a:t>100회+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446520" y="2807208"/>
            <a:ext cx="1051560" cy="310896"/>
          </a:xfrm>
          <a:prstGeom prst="rect">
            <a:avLst/>
          </a:prstGeom>
          <a:solidFill>
            <a:srgbClr val="1E1E7A"/>
          </a:solidFill>
          <a:ln w="6350">
            <a:solidFill>
              <a:srgbClr val="2A2D6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19672" y="2862072"/>
            <a:ext cx="905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9CFB8"/>
                </a:solidFill>
              </a:rPr>
              <a:t>500회+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20040" y="3154680"/>
            <a:ext cx="2011680" cy="310896"/>
          </a:xfrm>
          <a:prstGeom prst="rect">
            <a:avLst/>
          </a:prstGeom>
          <a:solidFill>
            <a:srgbClr val="12154A"/>
          </a:solidFill>
          <a:ln w="6350">
            <a:solidFill>
              <a:srgbClr val="2A2D6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93192" y="3209544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E0"/>
                </a:solidFill>
              </a:rPr>
              <a:t>DAU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331720" y="3154680"/>
            <a:ext cx="1051560" cy="310896"/>
          </a:xfrm>
          <a:prstGeom prst="rect">
            <a:avLst/>
          </a:prstGeom>
          <a:solidFill>
            <a:srgbClr val="12154A"/>
          </a:solidFill>
          <a:ln w="6350">
            <a:solidFill>
              <a:srgbClr val="2A2D6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404872" y="3209544"/>
            <a:ext cx="905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5F7"/>
                </a:solidFill>
              </a:rPr>
              <a:t>100명+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446520" y="3154680"/>
            <a:ext cx="1051560" cy="310896"/>
          </a:xfrm>
          <a:prstGeom prst="rect">
            <a:avLst/>
          </a:prstGeom>
          <a:solidFill>
            <a:srgbClr val="12154A"/>
          </a:solidFill>
          <a:ln w="6350">
            <a:solidFill>
              <a:srgbClr val="2A2D6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19672" y="3209544"/>
            <a:ext cx="905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9CFB8"/>
                </a:solidFill>
              </a:rPr>
              <a:t>1,000명+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709160" y="107899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700"/>
                </a:solidFill>
              </a:rPr>
              <a:t>⚠️ 주요 리스크 &amp; 대응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4709160" y="1417320"/>
            <a:ext cx="4114800" cy="475488"/>
          </a:xfrm>
          <a:prstGeom prst="rect">
            <a:avLst/>
          </a:prstGeom>
          <a:solidFill>
            <a:srgbClr val="1E1E7A"/>
          </a:solidFill>
          <a:ln w="6350">
            <a:solidFill>
              <a:srgbClr val="2A2D6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28032" y="1472184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0000"/>
                </a:solidFill>
              </a:rPr>
              <a:t>🔴 높음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4828032" y="165506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F5F7"/>
                </a:solidFill>
              </a:rPr>
              <a:t>FIFA 상표권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766560" y="150876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A8B8E0"/>
                </a:solidFill>
              </a:rPr>
              <a:t>→ "FIFA" "Official" 표기 금지 엄수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4709160" y="1965960"/>
            <a:ext cx="4114800" cy="475488"/>
          </a:xfrm>
          <a:prstGeom prst="rect">
            <a:avLst/>
          </a:prstGeom>
          <a:solidFill>
            <a:srgbClr val="12154A"/>
          </a:solidFill>
          <a:ln w="6350">
            <a:solidFill>
              <a:srgbClr val="2A2D6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28032" y="2020824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0000"/>
                </a:solidFill>
              </a:rPr>
              <a:t>🔴 높음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4828032" y="220370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F5F7"/>
                </a:solidFill>
              </a:rPr>
              <a:t>AI 콘텐츠 허위 정보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766560" y="20574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A8B8E0"/>
                </a:solidFill>
              </a:rPr>
              <a:t>→ 6항목 자동 검수 + 관리자 이중 승인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4709160" y="2514600"/>
            <a:ext cx="4114800" cy="475488"/>
          </a:xfrm>
          <a:prstGeom prst="rect">
            <a:avLst/>
          </a:prstGeom>
          <a:solidFill>
            <a:srgbClr val="1E1E7A"/>
          </a:solidFill>
          <a:ln w="6350">
            <a:solidFill>
              <a:srgbClr val="2A2D6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828032" y="2569464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0000"/>
                </a:solidFill>
              </a:rPr>
              <a:t>🔴 높음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4828032" y="275234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F5F7"/>
                </a:solidFill>
              </a:rPr>
              <a:t>초상권·DMCA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6766560" y="260604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A8B8E0"/>
                </a:solidFill>
              </a:rPr>
              <a:t>→ 3단계 소싱 정책 + 24h 테이크다운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4709160" y="3063240"/>
            <a:ext cx="4114800" cy="475488"/>
          </a:xfrm>
          <a:prstGeom prst="rect">
            <a:avLst/>
          </a:prstGeom>
          <a:solidFill>
            <a:srgbClr val="12154A"/>
          </a:solidFill>
          <a:ln w="6350">
            <a:solidFill>
              <a:srgbClr val="2A2D6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828032" y="3118104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0000"/>
                </a:solidFill>
              </a:rPr>
              <a:t>🟡 중간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4828032" y="330098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F5F7"/>
                </a:solidFill>
              </a:rPr>
              <a:t>Firebase 비용 급증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6766560" y="31546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A8B8E0"/>
                </a:solidFill>
              </a:rPr>
              <a:t>→ 예산 알림 + ranking_cache 정책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4709160" y="3611880"/>
            <a:ext cx="4114800" cy="475488"/>
          </a:xfrm>
          <a:prstGeom prst="rect">
            <a:avLst/>
          </a:prstGeom>
          <a:solidFill>
            <a:srgbClr val="1E1E7A"/>
          </a:solidFill>
          <a:ln w="6350">
            <a:solidFill>
              <a:srgbClr val="2A2D6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828032" y="3666744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0000"/>
                </a:solidFill>
              </a:rPr>
              <a:t>🟡 중간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4828032" y="384962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F5F7"/>
                </a:solidFill>
              </a:rPr>
              <a:t>Claude API 다운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6766560" y="370332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A8B8E0"/>
                </a:solidFill>
              </a:rPr>
              <a:t>→ 재시도 큐 + 수동 폴백 유지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4709160" y="4160520"/>
            <a:ext cx="4114800" cy="475488"/>
          </a:xfrm>
          <a:prstGeom prst="rect">
            <a:avLst/>
          </a:prstGeom>
          <a:solidFill>
            <a:srgbClr val="12154A"/>
          </a:solidFill>
          <a:ln w="6350">
            <a:solidFill>
              <a:srgbClr val="2A2D6B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828032" y="4215384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0000"/>
                </a:solidFill>
              </a:rPr>
              <a:t>🟢 낮음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4828032" y="439826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F5F7"/>
                </a:solidFill>
              </a:rPr>
              <a:t>경쟁자 모방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6766560" y="425196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A8B8E0"/>
                </a:solidFill>
              </a:rPr>
              <a:t>→ 데이터 선점이 핵심 방어선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0" y="4956048"/>
            <a:ext cx="9144000" cy="73152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60C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00A00"/>
          </a:solidFill>
          <a:ln w="12700">
            <a:solidFill>
              <a:srgbClr val="100A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55448"/>
            <a:ext cx="658368" cy="566928"/>
          </a:xfrm>
          <a:prstGeom prst="rect">
            <a:avLst/>
          </a:prstGeom>
          <a:solidFill>
            <a:srgbClr val="2A1A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55448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700"/>
                </a:solidFill>
              </a:rPr>
              <a:t>10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69848" y="155448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★ 상세 작업 계획 — 스프린트 스케줄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543800" y="201168"/>
            <a:ext cx="1280160" cy="27432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43800" y="20116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60C3B"/>
                </a:solidFill>
              </a:rPr>
              <a:t>사업계획서 미포함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069848" y="62179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99"/>
                </a:solidFill>
              </a:rPr>
              <a:t>2026년 5월 23일 ~ 7월 말 | MVP 1 → 1.5 → 2 전환 스프린트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" y="1078992"/>
            <a:ext cx="2788920" cy="3886200"/>
          </a:xfrm>
          <a:prstGeom prst="rect">
            <a:avLst/>
          </a:prstGeom>
          <a:solidFill>
            <a:srgbClr val="1E1E7A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1078992"/>
            <a:ext cx="278892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1078992"/>
            <a:ext cx="2788920" cy="502920"/>
          </a:xfrm>
          <a:prstGeom prst="rect">
            <a:avLst/>
          </a:prstGeom>
          <a:solidFill>
            <a:srgbClr val="141466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9768" y="109728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700"/>
                </a:solidFill>
              </a:rPr>
              <a:t>Phase 1 — MVP 1 완성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29768" y="138988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A99"/>
                </a:solidFill>
              </a:rPr>
              <a:t>5월 23일 ~ 31일 (D-9)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11480" y="1636776"/>
            <a:ext cx="2606040" cy="713232"/>
          </a:xfrm>
          <a:prstGeom prst="rect">
            <a:avLst/>
          </a:prstGeom>
          <a:solidFill>
            <a:srgbClr val="12154A"/>
          </a:solidFill>
          <a:ln w="6350">
            <a:solidFill>
              <a:srgbClr val="2A2D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1682496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D700"/>
                </a:solidFill>
              </a:rPr>
              <a:t>📅 5/23~25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02920" y="185623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0F5F7"/>
                </a:solidFill>
              </a:rPr>
              <a:t>Domain 0 Launch Pad 완성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02920" y="2148840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99"/>
                </a:solidFill>
              </a:rPr>
              <a:t>웨이트리스트  ·  이메일 수집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411480" y="2441448"/>
            <a:ext cx="2606040" cy="713232"/>
          </a:xfrm>
          <a:prstGeom prst="rect">
            <a:avLst/>
          </a:prstGeom>
          <a:solidFill>
            <a:srgbClr val="12154A"/>
          </a:solidFill>
          <a:ln w="6350">
            <a:solidFill>
              <a:srgbClr val="2A2D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248716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D700"/>
                </a:solidFill>
              </a:rPr>
              <a:t>📅 5/26~27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02920" y="266090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0F5F7"/>
                </a:solidFill>
              </a:rPr>
              <a:t>Domain 1 The Pitch 완성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02920" y="295351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99"/>
                </a:solidFill>
              </a:rPr>
              <a:t>홈·트렌딩  ·  토너먼트 목록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411480" y="3246120"/>
            <a:ext cx="2606040" cy="713232"/>
          </a:xfrm>
          <a:prstGeom prst="rect">
            <a:avLst/>
          </a:prstGeom>
          <a:solidFill>
            <a:srgbClr val="12154A"/>
          </a:solidFill>
          <a:ln w="6350">
            <a:solidFill>
              <a:srgbClr val="2A2D6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29184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D700"/>
                </a:solidFill>
              </a:rPr>
              <a:t>📅 5/28~29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02920" y="346557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0F5F7"/>
                </a:solidFill>
              </a:rPr>
              <a:t>D2 Lab + D3 Arena 완성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02920" y="3758184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99"/>
                </a:solidFill>
              </a:rPr>
              <a:t>투표 엔진  ·  Crown Card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411480" y="4050792"/>
            <a:ext cx="2606040" cy="713232"/>
          </a:xfrm>
          <a:prstGeom prst="rect">
            <a:avLst/>
          </a:prstGeom>
          <a:solidFill>
            <a:srgbClr val="12154A"/>
          </a:solidFill>
          <a:ln w="6350">
            <a:solidFill>
              <a:srgbClr val="2A2D6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409651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D700"/>
                </a:solidFill>
              </a:rPr>
              <a:t>📅 5/30~31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02920" y="42702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0F5F7"/>
                </a:solidFill>
              </a:rPr>
              <a:t>QA·배포 + D5 Policy Hub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02920" y="4562856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99"/>
                </a:solidFill>
              </a:rPr>
              <a:t>Vercel 배포  ·  최종 QA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3264408" y="1078992"/>
            <a:ext cx="2788920" cy="3886200"/>
          </a:xfrm>
          <a:prstGeom prst="rect">
            <a:avLst/>
          </a:prstGeom>
          <a:solidFill>
            <a:srgbClr val="1E1E7A"/>
          </a:solidFill>
          <a:ln w="12700">
            <a:solidFill>
              <a:srgbClr val="39CFB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64408" y="1078992"/>
            <a:ext cx="2788920" cy="54864"/>
          </a:xfrm>
          <a:prstGeom prst="rect">
            <a:avLst/>
          </a:prstGeom>
          <a:solidFill>
            <a:srgbClr val="39CFB8"/>
          </a:solidFill>
          <a:ln w="12700">
            <a:solidFill>
              <a:srgbClr val="39CFB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64408" y="1078992"/>
            <a:ext cx="2788920" cy="502920"/>
          </a:xfrm>
          <a:prstGeom prst="rect">
            <a:avLst/>
          </a:prstGeom>
          <a:solidFill>
            <a:srgbClr val="141466"/>
          </a:solidFill>
          <a:ln w="12700">
            <a:solidFill>
              <a:srgbClr val="39CFB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74136" y="109728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9CFB8"/>
                </a:solidFill>
              </a:rPr>
              <a:t>Phase 2 — MVP 1.5 &amp; 런치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374136" y="138988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A99"/>
                </a:solidFill>
              </a:rPr>
              <a:t>6월 1일 ~ 10일 (D-10)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355848" y="1636776"/>
            <a:ext cx="2606040" cy="713232"/>
          </a:xfrm>
          <a:prstGeom prst="rect">
            <a:avLst/>
          </a:prstGeom>
          <a:solidFill>
            <a:srgbClr val="12154A"/>
          </a:solidFill>
          <a:ln w="6350">
            <a:solidFill>
              <a:srgbClr val="2A2D6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47288" y="1682496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9CFB8"/>
                </a:solidFill>
              </a:rPr>
              <a:t>📅 6/01~03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447288" y="185623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0F5F7"/>
                </a:solidFill>
              </a:rPr>
              <a:t>월드컵 Tournament 대진 생성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3447288" y="2148840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99"/>
                </a:solidFill>
              </a:rPr>
              <a:t>48팀 구성  ·  Contestant 등록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3355848" y="2441448"/>
            <a:ext cx="2606040" cy="713232"/>
          </a:xfrm>
          <a:prstGeom prst="rect">
            <a:avLst/>
          </a:prstGeom>
          <a:solidFill>
            <a:srgbClr val="12154A"/>
          </a:solidFill>
          <a:ln w="6350">
            <a:solidFill>
              <a:srgbClr val="2A2D6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447288" y="248716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9CFB8"/>
                </a:solidFill>
              </a:rPr>
              <a:t>📅 6/04~05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3447288" y="266090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0F5F7"/>
                </a:solidFill>
              </a:rPr>
              <a:t>Fan Intelligence 생성 버튼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3447288" y="295351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99"/>
                </a:solidFill>
              </a:rPr>
              <a:t>Admin Dashboard  ·  Claude API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3355848" y="3246120"/>
            <a:ext cx="2606040" cy="713232"/>
          </a:xfrm>
          <a:prstGeom prst="rect">
            <a:avLst/>
          </a:prstGeom>
          <a:solidFill>
            <a:srgbClr val="12154A"/>
          </a:solidFill>
          <a:ln w="6350">
            <a:solidFill>
              <a:srgbClr val="2A2D6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447288" y="329184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9CFB8"/>
                </a:solidFill>
              </a:rPr>
              <a:t>📅 6/06~08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3447288" y="346557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0F5F7"/>
                </a:solidFill>
              </a:rPr>
              <a:t>SNS 홍보 집중 (1,000표 목표)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3447288" y="3758184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99"/>
                </a:solidFill>
              </a:rPr>
              <a:t>Twitter  ·  Instagram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3355848" y="4050792"/>
            <a:ext cx="2606040" cy="713232"/>
          </a:xfrm>
          <a:prstGeom prst="rect">
            <a:avLst/>
          </a:prstGeom>
          <a:solidFill>
            <a:srgbClr val="0A2010"/>
          </a:solidFill>
          <a:ln w="10160">
            <a:solidFill>
              <a:srgbClr val="39CFB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447288" y="409651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9CFB8"/>
                </a:solidFill>
              </a:rPr>
              <a:t>📅 6/09~10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3447288" y="42702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39CFB8"/>
                </a:solidFill>
              </a:rPr>
              <a:t>런치 뉴스 생성·승인·배포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3447288" y="4562856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99"/>
                </a:solidFill>
              </a:rPr>
              <a:t>Fan Intelligence  ·  미디어 배포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6208776" y="1078992"/>
            <a:ext cx="2788920" cy="3886200"/>
          </a:xfrm>
          <a:prstGeom prst="rect">
            <a:avLst/>
          </a:prstGeom>
          <a:solidFill>
            <a:srgbClr val="1E1E7A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208776" y="1078992"/>
            <a:ext cx="278892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208776" y="1078992"/>
            <a:ext cx="2788920" cy="502920"/>
          </a:xfrm>
          <a:prstGeom prst="rect">
            <a:avLst/>
          </a:prstGeom>
          <a:solidFill>
            <a:srgbClr val="14146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318504" y="109728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</a:rPr>
              <a:t>Phase 3 — 월드컵 &amp; MVP 2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6318504" y="138988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A99"/>
                </a:solidFill>
              </a:rPr>
              <a:t>6월 11일 ~ 7월 말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6300216" y="1636776"/>
            <a:ext cx="2606040" cy="713232"/>
          </a:xfrm>
          <a:prstGeom prst="rect">
            <a:avLst/>
          </a:prstGeom>
          <a:solidFill>
            <a:srgbClr val="1A0A30"/>
          </a:solidFill>
          <a:ln w="10160">
            <a:solidFill>
              <a:srgbClr val="8B5CF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391656" y="1682496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5CF6"/>
                </a:solidFill>
              </a:rPr>
              <a:t>📅 6/11~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6391656" y="185623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8B5CF6"/>
                </a:solidFill>
              </a:rPr>
              <a:t>⚽ 월드컵 개막 · 운영 모니터링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6391656" y="2148840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99"/>
                </a:solidFill>
              </a:rPr>
              <a:t>실시간 투표  ·  이상 징후 감지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6300216" y="2441448"/>
            <a:ext cx="2606040" cy="713232"/>
          </a:xfrm>
          <a:prstGeom prst="rect">
            <a:avLst/>
          </a:prstGeom>
          <a:solidFill>
            <a:srgbClr val="12154A"/>
          </a:solidFill>
          <a:ln w="6350">
            <a:solidFill>
              <a:srgbClr val="2A2D6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391656" y="248716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5CF6"/>
                </a:solidFill>
              </a:rPr>
              <a:t>📅 6/11~30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6391656" y="266090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0F5F7"/>
                </a:solidFill>
              </a:rPr>
              <a:t>M7 AI 뉴스 팩토리 개발 시작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6391656" y="295351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99"/>
                </a:solidFill>
              </a:rPr>
              <a:t>Champion 트리거  ·  4종 탐지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6300216" y="3246120"/>
            <a:ext cx="2606040" cy="713232"/>
          </a:xfrm>
          <a:prstGeom prst="rect">
            <a:avLst/>
          </a:prstGeom>
          <a:solidFill>
            <a:srgbClr val="12154A"/>
          </a:solidFill>
          <a:ln w="6350">
            <a:solidFill>
              <a:srgbClr val="2A2D6B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391656" y="329184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5CF6"/>
                </a:solidFill>
              </a:rPr>
              <a:t>📅 7월 초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6391656" y="346557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0F5F7"/>
                </a:solidFill>
              </a:rPr>
              <a:t>스페인어(es) i18n 추가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6391656" y="3758184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99"/>
                </a:solidFill>
              </a:rPr>
              <a:t>Next.js i18n  ·  남미 론칭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6300216" y="4050792"/>
            <a:ext cx="2606040" cy="713232"/>
          </a:xfrm>
          <a:prstGeom prst="rect">
            <a:avLst/>
          </a:prstGeom>
          <a:solidFill>
            <a:srgbClr val="12154A"/>
          </a:solidFill>
          <a:ln w="6350">
            <a:solidFill>
              <a:srgbClr val="2A2D6B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391656" y="409651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5CF6"/>
                </a:solidFill>
              </a:rPr>
              <a:t>📅 7월 중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6391656" y="42702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0F5F7"/>
                </a:solidFill>
              </a:rPr>
              <a:t>D4 Locker Room + MVP 2 배포</a:t>
            </a:r>
            <a:endParaRPr lang="en-US" sz="950" dirty="0"/>
          </a:p>
        </p:txBody>
      </p:sp>
      <p:sp>
        <p:nvSpPr>
          <p:cNvPr id="72" name="Text 70"/>
          <p:cNvSpPr/>
          <p:nvPr/>
        </p:nvSpPr>
        <p:spPr>
          <a:xfrm>
            <a:off x="6391656" y="4562856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99"/>
                </a:solidFill>
              </a:rPr>
              <a:t>유저 프로필  ·  히스토리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0" y="4956048"/>
            <a:ext cx="9144000" cy="73152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60C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457200"/>
            <a:ext cx="4572000" cy="4572000"/>
          </a:xfrm>
          <a:prstGeom prst="ellipse">
            <a:avLst/>
          </a:prstGeom>
          <a:solidFill>
            <a:srgbClr val="1E1E7A"/>
          </a:solidFill>
          <a:ln w="12700">
            <a:solidFill>
              <a:srgbClr val="2A2D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1828800"/>
            <a:ext cx="3657600" cy="3657600"/>
          </a:xfrm>
          <a:prstGeom prst="ellipse">
            <a:avLst/>
          </a:prstGeom>
          <a:solidFill>
            <a:srgbClr val="1E1E7A"/>
          </a:solidFill>
          <a:ln w="12700">
            <a:solidFill>
              <a:srgbClr val="2A2D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0" y="54864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000000"/>
                </a:solidFill>
              </a:rPr>
              <a:t>👑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914400" y="201168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spc="100" kern="0" dirty="0">
                <a:solidFill>
                  <a:srgbClr val="FFD700"/>
                </a:solidFill>
              </a:rPr>
              <a:t>WorldCrown48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914400" y="272491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A8B8E0"/>
                </a:solidFill>
              </a:rPr>
              <a:t>"팬이 투표하고 AI가 보도하는 글로벌 축구 팬덤 허브"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0" y="3200400"/>
            <a:ext cx="3657600" cy="36576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0" y="3310128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🗳️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828800" y="3840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700"/>
                </a:solidFill>
              </a:rPr>
              <a:t>팬 투표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0" y="3310128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🤖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931920" y="3840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700"/>
                </a:solidFill>
              </a:rPr>
              <a:t>Fan Intelligence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92240" y="3310128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👑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035040" y="3840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700"/>
                </a:solidFill>
              </a:rPr>
              <a:t>Crown Card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0" y="4809744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A99"/>
                </a:solidFill>
              </a:rPr>
              <a:t>사업계획서 v4.0  ·  2026. 05. 23  ·  CONFIDENTIAL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0" y="4956048"/>
            <a:ext cx="9144000" cy="73152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WorldCrown48 사업계획서 v4.0</dc:title>
  <dc:subject>PptxGenJS Presentation</dc:subject>
  <dc:creator>48티오</dc:creator>
  <cp:lastModifiedBy>48티오</cp:lastModifiedBy>
  <cp:revision>1</cp:revision>
  <dcterms:created xsi:type="dcterms:W3CDTF">2026-05-23T04:14:38Z</dcterms:created>
  <dcterms:modified xsi:type="dcterms:W3CDTF">2026-05-23T04:14:38Z</dcterms:modified>
</cp:coreProperties>
</file>